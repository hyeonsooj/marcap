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00000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000000"/>
                </a:solidFill>
                <a:latin typeface="Malgun Gothic"/>
              </a:rPr>
              <a:t>영업이익 (조원)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영업이익 (조원)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32.7</c:v>
                </c:pt>
                <c:pt idx="1">
                  <c:v>42</c:v>
                </c:pt>
                <c:pt idx="2">
                  <c:v>58</c:v>
                </c:pt>
                <c:pt idx="3">
                  <c:v>65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00000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00000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000000"/>
                </a:solidFill>
                <a:latin typeface="Malgun Gothic"/>
              </a:rPr>
              <a:t>FCF (조원)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 (조원)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16</c:v>
                </c:pt>
                <c:pt idx="2">
                  <c:v>21</c:v>
                </c:pt>
                <c:pt idx="3">
                  <c:v>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00000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00000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000000"/>
                </a:solidFill>
                <a:latin typeface="Malgun Gothic"/>
              </a:rPr>
              <a:t>배당수익률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배당수익률 (%)</c:v>
                </c:pt>
              </c:strCache>
            </c:strRef>
          </c:tx>
          <c:spPr>
            <a:solidFill>
              <a:srgbClr val="000000"/>
            </a:solidFill>
            <a:ln w="317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</c:v>
                </c:pt>
                <c:pt idx="1">
                  <c:v>6</c:v>
                </c:pt>
                <c:pt idx="2">
                  <c:v>6.2</c:v>
                </c:pt>
                <c:pt idx="3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00000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00000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000000"/>
                </a:solidFill>
                <a:latin typeface="Malgun Gothic"/>
              </a:rPr>
              <a:t>FCF (조원)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 (조원)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1.62</c:v>
                </c:pt>
                <c:pt idx="1">
                  <c:v>1.7</c:v>
                </c:pt>
                <c:pt idx="2">
                  <c:v>1.8</c:v>
                </c:pt>
                <c:pt idx="3">
                  <c:v>1.9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00000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00000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000000"/>
                </a:solidFill>
                <a:latin typeface="Malgun Gothic"/>
              </a:rPr>
              <a:t>계획 vs 실제 투자 비중 (%, 매입금액 기준)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 비중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SK하이닉스</c:v>
                  </c:pt>
                  <c:pt idx="1">
                    <c:v>삼성전자</c:v>
                  </c:pt>
                  <c:pt idx="2">
                    <c:v>SK텔레콤</c:v>
                  </c:pt>
                  <c:pt idx="3">
                    <c:v>KT&amp;G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실제 비중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SK하이닉스</c:v>
                  </c:pt>
                  <c:pt idx="1">
                    <c:v>삼성전자</c:v>
                  </c:pt>
                  <c:pt idx="2">
                    <c:v>SK텔레콤</c:v>
                  </c:pt>
                  <c:pt idx="3">
                    <c:v>KT&amp;G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</c:v>
                </c:pt>
                <c:pt idx="1">
                  <c:v>45.7</c:v>
                </c:pt>
                <c:pt idx="2">
                  <c:v>6.2</c:v>
                </c:pt>
                <c:pt idx="3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00000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00000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000000"/>
                </a:solidFill>
                <a:latin typeface="Malgun Gothic"/>
              </a:rPr>
              <a:t>종목별 수익률 기여도 (%p)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기여도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+0.00;-0.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SK하이닉스</c:v>
                  </c:pt>
                  <c:pt idx="1">
                    <c:v>삼성전자</c:v>
                  </c:pt>
                  <c:pt idx="2">
                    <c:v>SK텔레콤</c:v>
                  </c:pt>
                  <c:pt idx="3">
                    <c:v>KT&amp;G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-12.57</c:v>
                </c:pt>
                <c:pt idx="1">
                  <c:v>-8.88</c:v>
                </c:pt>
                <c:pt idx="2">
                  <c:v>-0.11</c:v>
                </c:pt>
                <c:pt idx="3">
                  <c:v>0</c:v>
                </c:pt>
              </c:numCache>
            </c:numRef>
          </c:val>
        </c:ser>
        <c:dLbls>
          <c:numFmt formatCode="+0.00;-0.00;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00000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00000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000000"/>
                </a:solidFill>
                <a:latin typeface="Malgun Gothic"/>
              </a:rPr>
              <a:t>누적 수익률 (%, 매입원가 대비)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실제 포트폴리오</c:v>
                </c:pt>
              </c:strCache>
            </c:strRef>
          </c:tx>
          <c:spPr>
            <a:solidFill>
              <a:srgbClr val="000000"/>
            </a:solidFill>
            <a:ln w="317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06/30</c:v>
                  </c:pt>
                  <c:pt idx="1">
                    <c:v>07/01</c:v>
                  </c:pt>
                  <c:pt idx="2">
                    <c:v>07/02</c:v>
                  </c:pt>
                  <c:pt idx="3">
                    <c:v>07/03</c:v>
                  </c:pt>
                  <c:pt idx="4">
                    <c:v>07/06</c:v>
                  </c:pt>
                  <c:pt idx="5">
                    <c:v>07/07</c:v>
                  </c:pt>
                  <c:pt idx="6">
                    <c:v>07/08</c:v>
                  </c:pt>
                  <c:pt idx="7">
                    <c:v>07/09</c:v>
                  </c:pt>
                  <c:pt idx="8">
                    <c:v>07/10</c:v>
                  </c:pt>
                  <c:pt idx="9">
                    <c:v>07/13</c:v>
                  </c:pt>
                  <c:pt idx="10">
                    <c:v>07/14</c:v>
                  </c:pt>
                  <c:pt idx="11">
                    <c:v>07/15</c:v>
                  </c:pt>
                  <c:pt idx="12">
                    <c:v>07/16</c:v>
                  </c:pt>
                  <c:pt idx="13">
                    <c:v>07/20</c:v>
                  </c:pt>
                  <c:pt idx="14">
                    <c:v>07/21</c:v>
                  </c:pt>
                  <c:pt idx="15">
                    <c:v>07/22</c:v>
                  </c:pt>
                  <c:pt idx="16">
                    <c:v>07/23</c:v>
                  </c:pt>
                  <c:pt idx="17">
                    <c:v>07/24</c:v>
                  </c:pt>
                  <c:pt idx="18">
                    <c:v>07/27</c:v>
                  </c:pt>
                  <c:pt idx="19">
                    <c:v>07/28</c:v>
                  </c:pt>
                  <c:pt idx="20">
                    <c:v>07/29</c:v>
                  </c:pt>
                  <c:pt idx="21">
                    <c:v>07/30</c:v>
                  </c:pt>
                  <c:pt idx="22">
                    <c:v>07/31</c:v>
                  </c:pt>
                  <c:pt idx="23">
                    <c:v>08/03</c:v>
                  </c:pt>
                  <c:pt idx="24">
                    <c:v>08/04</c:v>
                  </c:pt>
                  <c:pt idx="25">
                    <c:v>08/05</c:v>
                  </c:pt>
                  <c:pt idx="26">
                    <c:v>08/06</c:v>
                  </c:pt>
                  <c:pt idx="27">
                    <c:v>08/07</c:v>
                  </c:pt>
                  <c:pt idx="28">
                    <c:v>08/10</c:v>
                  </c:pt>
                  <c:pt idx="29">
                    <c:v>08/11</c:v>
                  </c:pt>
                  <c:pt idx="30">
                    <c:v>08/12</c:v>
                  </c:pt>
                  <c:pt idx="31">
                    <c:v>08/13</c:v>
                  </c:pt>
                  <c:pt idx="32">
                    <c:v>08/14</c:v>
                  </c:pt>
                  <c:pt idx="33">
                    <c:v>08/18</c:v>
                  </c:pt>
                  <c:pt idx="34">
                    <c:v>08/19</c:v>
                  </c:pt>
                  <c:pt idx="35">
                    <c:v>08/20</c:v>
                  </c:pt>
                  <c:pt idx="36">
                    <c:v>08/21</c:v>
                  </c:pt>
                  <c:pt idx="37">
                    <c:v>08/24</c:v>
                  </c:pt>
                  <c:pt idx="38">
                    <c:v>08/25</c:v>
                  </c:pt>
                  <c:pt idx="39">
                    <c:v>08/26</c:v>
                  </c:pt>
                  <c:pt idx="40">
                    <c:v>08/27</c:v>
                  </c:pt>
                  <c:pt idx="41">
                    <c:v>08/28</c:v>
                  </c:pt>
                  <c:pt idx="42">
                    <c:v>08/31</c:v>
                  </c:pt>
                  <c:pt idx="43">
                    <c:v>09/01</c:v>
                  </c:pt>
                  <c:pt idx="44">
                    <c:v>09/02</c:v>
                  </c:pt>
                  <c:pt idx="45">
                    <c:v>09/03</c:v>
                  </c:pt>
                  <c:pt idx="46">
                    <c:v>09/04</c:v>
                  </c:pt>
                  <c:pt idx="47">
                    <c:v>09/07</c:v>
                  </c:pt>
                  <c:pt idx="48">
                    <c:v>09/08</c:v>
                  </c:pt>
                  <c:pt idx="49">
                    <c:v>09/09</c:v>
                  </c:pt>
                  <c:pt idx="50">
                    <c:v>09/10</c:v>
                  </c:pt>
                  <c:pt idx="51">
                    <c:v>09/11</c:v>
                  </c:pt>
                  <c:pt idx="52">
                    <c:v>09/14</c:v>
                  </c:pt>
                  <c:pt idx="53">
                    <c:v>09/15</c:v>
                  </c:pt>
                  <c:pt idx="54">
                    <c:v>09/16</c:v>
                  </c:pt>
                  <c:pt idx="55">
                    <c:v>09/17</c:v>
                  </c:pt>
                  <c:pt idx="56">
                    <c:v>09/18</c:v>
                  </c:pt>
                  <c:pt idx="57">
                    <c:v>09/21</c:v>
                  </c:pt>
                  <c:pt idx="58">
                    <c:v>09/22</c:v>
                  </c:pt>
                </c:lvl>
              </c:multiLvlStrCache>
            </c:multiLvlStrRef>
          </c:cat>
          <c:val>
            <c:numRef>
              <c:f>Sheet1!$B$2:$B$60</c:f>
              <c:numCache>
                <c:formatCode>General</c:formatCode>
                <c:ptCount val="59"/>
                <c:pt idx="0">
                  <c:v>0.86</c:v>
                </c:pt>
                <c:pt idx="1">
                  <c:v>-3.8</c:v>
                </c:pt>
                <c:pt idx="2">
                  <c:v>-15.19</c:v>
                </c:pt>
                <c:pt idx="3">
                  <c:v>-6.28</c:v>
                </c:pt>
                <c:pt idx="4">
                  <c:v>-6</c:v>
                </c:pt>
                <c:pt idx="5">
                  <c:v>-11.77</c:v>
                </c:pt>
                <c:pt idx="6">
                  <c:v>-16.76</c:v>
                </c:pt>
                <c:pt idx="7">
                  <c:v>-14.64</c:v>
                </c:pt>
                <c:pt idx="8">
                  <c:v>-13.52</c:v>
                </c:pt>
                <c:pt idx="9">
                  <c:v>-23.95</c:v>
                </c:pt>
                <c:pt idx="10">
                  <c:v>-21.67</c:v>
                </c:pt>
                <c:pt idx="11">
                  <c:v>-15.21</c:v>
                </c:pt>
                <c:pt idx="12">
                  <c:v>-22.79</c:v>
                </c:pt>
                <c:pt idx="13">
                  <c:v>-26.18</c:v>
                </c:pt>
                <c:pt idx="14">
                  <c:v>-21.72</c:v>
                </c:pt>
                <c:pt idx="15">
                  <c:v>-21</c:v>
                </c:pt>
                <c:pt idx="16">
                  <c:v>-17.53</c:v>
                </c:pt>
                <c:pt idx="17">
                  <c:v>-23.51</c:v>
                </c:pt>
                <c:pt idx="18">
                  <c:v>-21.9</c:v>
                </c:pt>
                <c:pt idx="19">
                  <c:v>-33</c:v>
                </c:pt>
                <c:pt idx="20">
                  <c:v>-37.81</c:v>
                </c:pt>
                <c:pt idx="21">
                  <c:v>-39.62</c:v>
                </c:pt>
                <c:pt idx="22">
                  <c:v>-23.86</c:v>
                </c:pt>
                <c:pt idx="23">
                  <c:v>-29.99</c:v>
                </c:pt>
                <c:pt idx="24">
                  <c:v>-29.06</c:v>
                </c:pt>
                <c:pt idx="25">
                  <c:v>-26.3</c:v>
                </c:pt>
                <c:pt idx="26">
                  <c:v>-32.02</c:v>
                </c:pt>
                <c:pt idx="27">
                  <c:v>-33.61</c:v>
                </c:pt>
                <c:pt idx="28">
                  <c:v>-34.02</c:v>
                </c:pt>
                <c:pt idx="29">
                  <c:v>-32.54</c:v>
                </c:pt>
                <c:pt idx="30">
                  <c:v>-28.64</c:v>
                </c:pt>
                <c:pt idx="31">
                  <c:v>-24.91</c:v>
                </c:pt>
                <c:pt idx="32">
                  <c:v>-22.31</c:v>
                </c:pt>
                <c:pt idx="33">
                  <c:v>-22.85</c:v>
                </c:pt>
                <c:pt idx="34">
                  <c:v>-29.09</c:v>
                </c:pt>
                <c:pt idx="35">
                  <c:v>-22.15</c:v>
                </c:pt>
                <c:pt idx="36">
                  <c:v>-19.53</c:v>
                </c:pt>
                <c:pt idx="37">
                  <c:v>-24.07</c:v>
                </c:pt>
                <c:pt idx="38">
                  <c:v>-24.17</c:v>
                </c:pt>
                <c:pt idx="39">
                  <c:v>-23.3</c:v>
                </c:pt>
                <c:pt idx="40">
                  <c:v>-21.88</c:v>
                </c:pt>
                <c:pt idx="41">
                  <c:v>-24.69</c:v>
                </c:pt>
                <c:pt idx="42">
                  <c:v>-24.17</c:v>
                </c:pt>
                <c:pt idx="43">
                  <c:v>-23.63</c:v>
                </c:pt>
                <c:pt idx="44">
                  <c:v>-26.9</c:v>
                </c:pt>
                <c:pt idx="45">
                  <c:v>-27.47</c:v>
                </c:pt>
                <c:pt idx="46">
                  <c:v>-25.45</c:v>
                </c:pt>
                <c:pt idx="47">
                  <c:v>-20.65</c:v>
                </c:pt>
                <c:pt idx="48">
                  <c:v>-20.62</c:v>
                </c:pt>
                <c:pt idx="49">
                  <c:v>-19.44</c:v>
                </c:pt>
                <c:pt idx="50">
                  <c:v>-19.63</c:v>
                </c:pt>
                <c:pt idx="51">
                  <c:v>-21.72</c:v>
                </c:pt>
                <c:pt idx="52">
                  <c:v>-25.52</c:v>
                </c:pt>
                <c:pt idx="53">
                  <c:v>-25.87</c:v>
                </c:pt>
                <c:pt idx="54">
                  <c:v>-23.8</c:v>
                </c:pt>
                <c:pt idx="55">
                  <c:v>-24.26</c:v>
                </c:pt>
                <c:pt idx="56">
                  <c:v>-20.74</c:v>
                </c:pt>
                <c:pt idx="57">
                  <c:v>-18.89</c:v>
                </c:pt>
                <c:pt idx="58">
                  <c:v>-19.08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계획(4종목 균등)</c:v>
                </c:pt>
              </c:strCache>
            </c:strRef>
          </c:tx>
          <c:spPr>
            <a:solidFill>
              <a:srgbClr val="7F7F7F"/>
            </a:solidFill>
            <a:ln w="3175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06/30</c:v>
                  </c:pt>
                  <c:pt idx="1">
                    <c:v>07/01</c:v>
                  </c:pt>
                  <c:pt idx="2">
                    <c:v>07/02</c:v>
                  </c:pt>
                  <c:pt idx="3">
                    <c:v>07/03</c:v>
                  </c:pt>
                  <c:pt idx="4">
                    <c:v>07/06</c:v>
                  </c:pt>
                  <c:pt idx="5">
                    <c:v>07/07</c:v>
                  </c:pt>
                  <c:pt idx="6">
                    <c:v>07/08</c:v>
                  </c:pt>
                  <c:pt idx="7">
                    <c:v>07/09</c:v>
                  </c:pt>
                  <c:pt idx="8">
                    <c:v>07/10</c:v>
                  </c:pt>
                  <c:pt idx="9">
                    <c:v>07/13</c:v>
                  </c:pt>
                  <c:pt idx="10">
                    <c:v>07/14</c:v>
                  </c:pt>
                  <c:pt idx="11">
                    <c:v>07/15</c:v>
                  </c:pt>
                  <c:pt idx="12">
                    <c:v>07/16</c:v>
                  </c:pt>
                  <c:pt idx="13">
                    <c:v>07/20</c:v>
                  </c:pt>
                  <c:pt idx="14">
                    <c:v>07/21</c:v>
                  </c:pt>
                  <c:pt idx="15">
                    <c:v>07/22</c:v>
                  </c:pt>
                  <c:pt idx="16">
                    <c:v>07/23</c:v>
                  </c:pt>
                  <c:pt idx="17">
                    <c:v>07/24</c:v>
                  </c:pt>
                  <c:pt idx="18">
                    <c:v>07/27</c:v>
                  </c:pt>
                  <c:pt idx="19">
                    <c:v>07/28</c:v>
                  </c:pt>
                  <c:pt idx="20">
                    <c:v>07/29</c:v>
                  </c:pt>
                  <c:pt idx="21">
                    <c:v>07/30</c:v>
                  </c:pt>
                  <c:pt idx="22">
                    <c:v>07/31</c:v>
                  </c:pt>
                  <c:pt idx="23">
                    <c:v>08/03</c:v>
                  </c:pt>
                  <c:pt idx="24">
                    <c:v>08/04</c:v>
                  </c:pt>
                  <c:pt idx="25">
                    <c:v>08/05</c:v>
                  </c:pt>
                  <c:pt idx="26">
                    <c:v>08/06</c:v>
                  </c:pt>
                  <c:pt idx="27">
                    <c:v>08/07</c:v>
                  </c:pt>
                  <c:pt idx="28">
                    <c:v>08/10</c:v>
                  </c:pt>
                  <c:pt idx="29">
                    <c:v>08/11</c:v>
                  </c:pt>
                  <c:pt idx="30">
                    <c:v>08/12</c:v>
                  </c:pt>
                  <c:pt idx="31">
                    <c:v>08/13</c:v>
                  </c:pt>
                  <c:pt idx="32">
                    <c:v>08/14</c:v>
                  </c:pt>
                  <c:pt idx="33">
                    <c:v>08/18</c:v>
                  </c:pt>
                  <c:pt idx="34">
                    <c:v>08/19</c:v>
                  </c:pt>
                  <c:pt idx="35">
                    <c:v>08/20</c:v>
                  </c:pt>
                  <c:pt idx="36">
                    <c:v>08/21</c:v>
                  </c:pt>
                  <c:pt idx="37">
                    <c:v>08/24</c:v>
                  </c:pt>
                  <c:pt idx="38">
                    <c:v>08/25</c:v>
                  </c:pt>
                  <c:pt idx="39">
                    <c:v>08/26</c:v>
                  </c:pt>
                  <c:pt idx="40">
                    <c:v>08/27</c:v>
                  </c:pt>
                  <c:pt idx="41">
                    <c:v>08/28</c:v>
                  </c:pt>
                  <c:pt idx="42">
                    <c:v>08/31</c:v>
                  </c:pt>
                  <c:pt idx="43">
                    <c:v>09/01</c:v>
                  </c:pt>
                  <c:pt idx="44">
                    <c:v>09/02</c:v>
                  </c:pt>
                  <c:pt idx="45">
                    <c:v>09/03</c:v>
                  </c:pt>
                  <c:pt idx="46">
                    <c:v>09/04</c:v>
                  </c:pt>
                  <c:pt idx="47">
                    <c:v>09/07</c:v>
                  </c:pt>
                  <c:pt idx="48">
                    <c:v>09/08</c:v>
                  </c:pt>
                  <c:pt idx="49">
                    <c:v>09/09</c:v>
                  </c:pt>
                  <c:pt idx="50">
                    <c:v>09/10</c:v>
                  </c:pt>
                  <c:pt idx="51">
                    <c:v>09/11</c:v>
                  </c:pt>
                  <c:pt idx="52">
                    <c:v>09/14</c:v>
                  </c:pt>
                  <c:pt idx="53">
                    <c:v>09/15</c:v>
                  </c:pt>
                  <c:pt idx="54">
                    <c:v>09/16</c:v>
                  </c:pt>
                  <c:pt idx="55">
                    <c:v>09/17</c:v>
                  </c:pt>
                  <c:pt idx="56">
                    <c:v>09/18</c:v>
                  </c:pt>
                  <c:pt idx="57">
                    <c:v>09/21</c:v>
                  </c:pt>
                  <c:pt idx="58">
                    <c:v>09/22</c:v>
                  </c:pt>
                </c:lvl>
              </c:multiLvlStrCache>
            </c:multiLvlStrRef>
          </c:cat>
          <c:val>
            <c:numRef>
              <c:f>Sheet1!$C$2:$C$60</c:f>
              <c:numCache>
                <c:formatCode>General</c:formatCode>
                <c:ptCount val="59"/>
                <c:pt idx="0">
                  <c:v>0</c:v>
                </c:pt>
                <c:pt idx="1">
                  <c:v>-2.64</c:v>
                </c:pt>
                <c:pt idx="2">
                  <c:v>-7.76</c:v>
                </c:pt>
                <c:pt idx="3">
                  <c:v>-3.73</c:v>
                </c:pt>
                <c:pt idx="4">
                  <c:v>-4.29</c:v>
                </c:pt>
                <c:pt idx="5">
                  <c:v>-5.97</c:v>
                </c:pt>
                <c:pt idx="6">
                  <c:v>-8.74</c:v>
                </c:pt>
                <c:pt idx="7">
                  <c:v>-8.06</c:v>
                </c:pt>
                <c:pt idx="8">
                  <c:v>-7.46</c:v>
                </c:pt>
                <c:pt idx="9">
                  <c:v>-13.63</c:v>
                </c:pt>
                <c:pt idx="10">
                  <c:v>-13.35</c:v>
                </c:pt>
                <c:pt idx="11">
                  <c:v>-9.99</c:v>
                </c:pt>
                <c:pt idx="12">
                  <c:v>-11.67</c:v>
                </c:pt>
                <c:pt idx="13">
                  <c:v>-14.71</c:v>
                </c:pt>
                <c:pt idx="14">
                  <c:v>-12.97</c:v>
                </c:pt>
                <c:pt idx="15">
                  <c:v>-10.61</c:v>
                </c:pt>
                <c:pt idx="16">
                  <c:v>-7.09</c:v>
                </c:pt>
                <c:pt idx="17">
                  <c:v>-9.55</c:v>
                </c:pt>
                <c:pt idx="18">
                  <c:v>-9.27</c:v>
                </c:pt>
                <c:pt idx="19">
                  <c:v>-18.9</c:v>
                </c:pt>
                <c:pt idx="20">
                  <c:v>-22.05</c:v>
                </c:pt>
                <c:pt idx="21">
                  <c:v>-22.55</c:v>
                </c:pt>
                <c:pt idx="22">
                  <c:v>-14.74</c:v>
                </c:pt>
                <c:pt idx="23">
                  <c:v>-18.23</c:v>
                </c:pt>
                <c:pt idx="24">
                  <c:v>-15.44</c:v>
                </c:pt>
                <c:pt idx="25">
                  <c:v>-13.62</c:v>
                </c:pt>
                <c:pt idx="26">
                  <c:v>-15.96</c:v>
                </c:pt>
                <c:pt idx="27">
                  <c:v>-16.54</c:v>
                </c:pt>
                <c:pt idx="28">
                  <c:v>-17.99</c:v>
                </c:pt>
                <c:pt idx="29">
                  <c:v>-17.81</c:v>
                </c:pt>
                <c:pt idx="30">
                  <c:v>-15.72</c:v>
                </c:pt>
                <c:pt idx="31">
                  <c:v>-13.54</c:v>
                </c:pt>
                <c:pt idx="32">
                  <c:v>-9.58</c:v>
                </c:pt>
                <c:pt idx="33">
                  <c:v>-9.98</c:v>
                </c:pt>
                <c:pt idx="34">
                  <c:v>-13.75</c:v>
                </c:pt>
                <c:pt idx="35">
                  <c:v>-11.12</c:v>
                </c:pt>
                <c:pt idx="36">
                  <c:v>-8.32</c:v>
                </c:pt>
                <c:pt idx="37">
                  <c:v>-10.55</c:v>
                </c:pt>
                <c:pt idx="38">
                  <c:v>-11.12</c:v>
                </c:pt>
                <c:pt idx="39">
                  <c:v>-10.6</c:v>
                </c:pt>
                <c:pt idx="40">
                  <c:v>-10.04</c:v>
                </c:pt>
                <c:pt idx="41">
                  <c:v>-11.31</c:v>
                </c:pt>
                <c:pt idx="42">
                  <c:v>-11.87</c:v>
                </c:pt>
                <c:pt idx="43">
                  <c:v>-11.97</c:v>
                </c:pt>
                <c:pt idx="44">
                  <c:v>-14.49</c:v>
                </c:pt>
                <c:pt idx="45">
                  <c:v>-15.32</c:v>
                </c:pt>
                <c:pt idx="46">
                  <c:v>-13.77</c:v>
                </c:pt>
                <c:pt idx="47">
                  <c:v>-11.35</c:v>
                </c:pt>
                <c:pt idx="48">
                  <c:v>-11.77</c:v>
                </c:pt>
                <c:pt idx="49">
                  <c:v>-11.69</c:v>
                </c:pt>
                <c:pt idx="50">
                  <c:v>-11.91</c:v>
                </c:pt>
                <c:pt idx="51">
                  <c:v>-12.47</c:v>
                </c:pt>
                <c:pt idx="52">
                  <c:v>-14.37</c:v>
                </c:pt>
                <c:pt idx="53">
                  <c:v>-15.41</c:v>
                </c:pt>
                <c:pt idx="54">
                  <c:v>-14.18</c:v>
                </c:pt>
                <c:pt idx="55">
                  <c:v>-14.26</c:v>
                </c:pt>
                <c:pt idx="56">
                  <c:v>-12.38</c:v>
                </c:pt>
                <c:pt idx="57">
                  <c:v>-11.66</c:v>
                </c:pt>
                <c:pt idx="58">
                  <c:v>-11.14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코스피(시총)</c:v>
                </c:pt>
              </c:strCache>
            </c:strRef>
          </c:tx>
          <c:spPr>
            <a:solidFill>
              <a:srgbClr val="C8C8C8"/>
            </a:solidFill>
            <a:ln w="31750" cap="flat">
              <a:solidFill>
                <a:srgbClr val="C8C8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C8C8"/>
              </a:solidFill>
              <a:ln w="9525" cap="flat">
                <a:solidFill>
                  <a:srgbClr val="C8C8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06/30</c:v>
                  </c:pt>
                  <c:pt idx="1">
                    <c:v>07/01</c:v>
                  </c:pt>
                  <c:pt idx="2">
                    <c:v>07/02</c:v>
                  </c:pt>
                  <c:pt idx="3">
                    <c:v>07/03</c:v>
                  </c:pt>
                  <c:pt idx="4">
                    <c:v>07/06</c:v>
                  </c:pt>
                  <c:pt idx="5">
                    <c:v>07/07</c:v>
                  </c:pt>
                  <c:pt idx="6">
                    <c:v>07/08</c:v>
                  </c:pt>
                  <c:pt idx="7">
                    <c:v>07/09</c:v>
                  </c:pt>
                  <c:pt idx="8">
                    <c:v>07/10</c:v>
                  </c:pt>
                  <c:pt idx="9">
                    <c:v>07/13</c:v>
                  </c:pt>
                  <c:pt idx="10">
                    <c:v>07/14</c:v>
                  </c:pt>
                  <c:pt idx="11">
                    <c:v>07/15</c:v>
                  </c:pt>
                  <c:pt idx="12">
                    <c:v>07/16</c:v>
                  </c:pt>
                  <c:pt idx="13">
                    <c:v>07/20</c:v>
                  </c:pt>
                  <c:pt idx="14">
                    <c:v>07/21</c:v>
                  </c:pt>
                  <c:pt idx="15">
                    <c:v>07/22</c:v>
                  </c:pt>
                  <c:pt idx="16">
                    <c:v>07/23</c:v>
                  </c:pt>
                  <c:pt idx="17">
                    <c:v>07/24</c:v>
                  </c:pt>
                  <c:pt idx="18">
                    <c:v>07/27</c:v>
                  </c:pt>
                  <c:pt idx="19">
                    <c:v>07/28</c:v>
                  </c:pt>
                  <c:pt idx="20">
                    <c:v>07/29</c:v>
                  </c:pt>
                  <c:pt idx="21">
                    <c:v>07/30</c:v>
                  </c:pt>
                  <c:pt idx="22">
                    <c:v>07/31</c:v>
                  </c:pt>
                  <c:pt idx="23">
                    <c:v>08/03</c:v>
                  </c:pt>
                  <c:pt idx="24">
                    <c:v>08/04</c:v>
                  </c:pt>
                  <c:pt idx="25">
                    <c:v>08/05</c:v>
                  </c:pt>
                  <c:pt idx="26">
                    <c:v>08/06</c:v>
                  </c:pt>
                  <c:pt idx="27">
                    <c:v>08/07</c:v>
                  </c:pt>
                  <c:pt idx="28">
                    <c:v>08/10</c:v>
                  </c:pt>
                  <c:pt idx="29">
                    <c:v>08/11</c:v>
                  </c:pt>
                  <c:pt idx="30">
                    <c:v>08/12</c:v>
                  </c:pt>
                  <c:pt idx="31">
                    <c:v>08/13</c:v>
                  </c:pt>
                  <c:pt idx="32">
                    <c:v>08/14</c:v>
                  </c:pt>
                  <c:pt idx="33">
                    <c:v>08/18</c:v>
                  </c:pt>
                  <c:pt idx="34">
                    <c:v>08/19</c:v>
                  </c:pt>
                  <c:pt idx="35">
                    <c:v>08/20</c:v>
                  </c:pt>
                  <c:pt idx="36">
                    <c:v>08/21</c:v>
                  </c:pt>
                  <c:pt idx="37">
                    <c:v>08/24</c:v>
                  </c:pt>
                  <c:pt idx="38">
                    <c:v>08/25</c:v>
                  </c:pt>
                  <c:pt idx="39">
                    <c:v>08/26</c:v>
                  </c:pt>
                  <c:pt idx="40">
                    <c:v>08/27</c:v>
                  </c:pt>
                  <c:pt idx="41">
                    <c:v>08/28</c:v>
                  </c:pt>
                  <c:pt idx="42">
                    <c:v>08/31</c:v>
                  </c:pt>
                  <c:pt idx="43">
                    <c:v>09/01</c:v>
                  </c:pt>
                  <c:pt idx="44">
                    <c:v>09/02</c:v>
                  </c:pt>
                  <c:pt idx="45">
                    <c:v>09/03</c:v>
                  </c:pt>
                  <c:pt idx="46">
                    <c:v>09/04</c:v>
                  </c:pt>
                  <c:pt idx="47">
                    <c:v>09/07</c:v>
                  </c:pt>
                  <c:pt idx="48">
                    <c:v>09/08</c:v>
                  </c:pt>
                  <c:pt idx="49">
                    <c:v>09/09</c:v>
                  </c:pt>
                  <c:pt idx="50">
                    <c:v>09/10</c:v>
                  </c:pt>
                  <c:pt idx="51">
                    <c:v>09/11</c:v>
                  </c:pt>
                  <c:pt idx="52">
                    <c:v>09/14</c:v>
                  </c:pt>
                  <c:pt idx="53">
                    <c:v>09/15</c:v>
                  </c:pt>
                  <c:pt idx="54">
                    <c:v>09/16</c:v>
                  </c:pt>
                  <c:pt idx="55">
                    <c:v>09/17</c:v>
                  </c:pt>
                  <c:pt idx="56">
                    <c:v>09/18</c:v>
                  </c:pt>
                  <c:pt idx="57">
                    <c:v>09/21</c:v>
                  </c:pt>
                  <c:pt idx="58">
                    <c:v>09/22</c:v>
                  </c:pt>
                </c:lvl>
              </c:multiLvlStrCache>
            </c:multiLvlStrRef>
          </c:cat>
          <c:val>
            <c:numRef>
              <c:f>Sheet1!$D$2:$D$60</c:f>
              <c:numCache>
                <c:formatCode>General</c:formatCode>
                <c:ptCount val="59"/>
                <c:pt idx="0">
                  <c:v>-5.21</c:v>
                </c:pt>
                <c:pt idx="1">
                  <c:v>-7.18</c:v>
                </c:pt>
                <c:pt idx="2">
                  <c:v>-14.49</c:v>
                </c:pt>
                <c:pt idx="3">
                  <c:v>-9.49</c:v>
                </c:pt>
                <c:pt idx="4">
                  <c:v>-9.83</c:v>
                </c:pt>
                <c:pt idx="5">
                  <c:v>-14.28</c:v>
                </c:pt>
                <c:pt idx="6">
                  <c:v>-18.87</c:v>
                </c:pt>
                <c:pt idx="7">
                  <c:v>-18.41</c:v>
                </c:pt>
                <c:pt idx="8">
                  <c:v>-16.3</c:v>
                </c:pt>
                <c:pt idx="9">
                  <c:v>-23.77</c:v>
                </c:pt>
                <c:pt idx="10">
                  <c:v>-23.17</c:v>
                </c:pt>
                <c:pt idx="11">
                  <c:v>-18.46</c:v>
                </c:pt>
                <c:pt idx="12">
                  <c:v>-23.71</c:v>
                </c:pt>
                <c:pt idx="13">
                  <c:v>-27.07</c:v>
                </c:pt>
                <c:pt idx="14">
                  <c:v>-24.42</c:v>
                </c:pt>
                <c:pt idx="15">
                  <c:v>-23.83</c:v>
                </c:pt>
                <c:pt idx="16">
                  <c:v>-20.47</c:v>
                </c:pt>
                <c:pt idx="17">
                  <c:v>-25.05</c:v>
                </c:pt>
                <c:pt idx="18">
                  <c:v>-24.3</c:v>
                </c:pt>
                <c:pt idx="19">
                  <c:v>-32.52</c:v>
                </c:pt>
                <c:pt idx="20">
                  <c:v>-36.13</c:v>
                </c:pt>
                <c:pt idx="21">
                  <c:v>-36.92</c:v>
                </c:pt>
                <c:pt idx="22">
                  <c:v>-25.51</c:v>
                </c:pt>
                <c:pt idx="23">
                  <c:v>-29.35</c:v>
                </c:pt>
                <c:pt idx="24">
                  <c:v>-28.25</c:v>
                </c:pt>
                <c:pt idx="25">
                  <c:v>-25.55</c:v>
                </c:pt>
                <c:pt idx="26">
                  <c:v>-28.98</c:v>
                </c:pt>
                <c:pt idx="27">
                  <c:v>-29.42</c:v>
                </c:pt>
                <c:pt idx="28">
                  <c:v>-28.95</c:v>
                </c:pt>
                <c:pt idx="29">
                  <c:v>-28.33</c:v>
                </c:pt>
                <c:pt idx="30">
                  <c:v>-25.72</c:v>
                </c:pt>
                <c:pt idx="31">
                  <c:v>-23.14</c:v>
                </c:pt>
                <c:pt idx="32">
                  <c:v>-21.24</c:v>
                </c:pt>
                <c:pt idx="33">
                  <c:v>-22.51</c:v>
                </c:pt>
                <c:pt idx="34">
                  <c:v>-27.04</c:v>
                </c:pt>
                <c:pt idx="35">
                  <c:v>-22.68</c:v>
                </c:pt>
                <c:pt idx="36">
                  <c:v>-21.85</c:v>
                </c:pt>
                <c:pt idx="37">
                  <c:v>-24.42</c:v>
                </c:pt>
                <c:pt idx="38">
                  <c:v>-23.84</c:v>
                </c:pt>
                <c:pt idx="39">
                  <c:v>-23.11</c:v>
                </c:pt>
                <c:pt idx="40">
                  <c:v>-22</c:v>
                </c:pt>
                <c:pt idx="41">
                  <c:v>-23.44</c:v>
                </c:pt>
                <c:pt idx="42">
                  <c:v>-23.12</c:v>
                </c:pt>
                <c:pt idx="43">
                  <c:v>-22.91</c:v>
                </c:pt>
                <c:pt idx="44">
                  <c:v>-25.95</c:v>
                </c:pt>
                <c:pt idx="45">
                  <c:v>-25.78</c:v>
                </c:pt>
                <c:pt idx="46">
                  <c:v>-24.52</c:v>
                </c:pt>
                <c:pt idx="47">
                  <c:v>-21.07</c:v>
                </c:pt>
                <c:pt idx="48">
                  <c:v>-21.54</c:v>
                </c:pt>
                <c:pt idx="49">
                  <c:v>-20.48</c:v>
                </c:pt>
                <c:pt idx="50">
                  <c:v>-20.62</c:v>
                </c:pt>
                <c:pt idx="51">
                  <c:v>-22.08</c:v>
                </c:pt>
                <c:pt idx="52">
                  <c:v>-24.67</c:v>
                </c:pt>
                <c:pt idx="53">
                  <c:v>-25.25</c:v>
                </c:pt>
                <c:pt idx="54">
                  <c:v>-24.18</c:v>
                </c:pt>
                <c:pt idx="55">
                  <c:v>-24.22</c:v>
                </c:pt>
                <c:pt idx="56">
                  <c:v>-22.24</c:v>
                </c:pt>
                <c:pt idx="57">
                  <c:v>-20.87</c:v>
                </c:pt>
                <c:pt idx="58">
                  <c:v>-20.73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0000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제10회 전국대학생 가치투자대회 · 최종보고서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315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흔들리는 시장,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2028년에도 현금을 뽑는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4개의 구조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60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· SK하이닉스 · KT&amp;G · SK텔레콤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인천대학교 생명공학전공  |  202302552  |  정현수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1188720"/>
            <a:ext cx="2377440" cy="3017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0392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항산항심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229600" y="4480560"/>
            <a:ext cx="8229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89720" y="4480560"/>
            <a:ext cx="8229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4480560"/>
            <a:ext cx="822960" cy="105156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09960" y="4480560"/>
            <a:ext cx="822960" cy="105156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투자철학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명의 구루에게서 얻은 하나의 질문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459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“2028년에도 이 거위는 황금알을 낳는가?”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2560320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88920"/>
            <a:ext cx="457200" cy="576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8892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워런 버핏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017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해자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5661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해자는 성벽이 아니라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‘매일 현금이 들어오는 구조’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97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“내가 없어도 돌아가는 기업을 사라”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800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SK텔레콤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83280" y="2606040"/>
            <a:ext cx="2560320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11880" y="2788920"/>
            <a:ext cx="457200" cy="576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11880" y="278892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피터 린치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017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 속 투자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35661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지루한 업종일수록 경쟁자가 없고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올려도 팔린다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611880" y="4297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“지루한 업종에서 대박이 난다”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611880" y="4800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KT&amp;G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0" y="2606040"/>
            <a:ext cx="2560320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2788920"/>
            <a:ext cx="457200" cy="576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278892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최준철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040880" y="3017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한국형 배당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35661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ROE가 높고, 그 ROE를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배당으로 돌려주는 기업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4297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“한국에서 배당은 도덕이 아니라 생존”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800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KT&amp;G · SK텔레콤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052560" y="2606040"/>
            <a:ext cx="2560320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81160" y="2788920"/>
            <a:ext cx="457200" cy="576072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278892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0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오연석 · 알렉산더 카프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875520" y="3017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듀레이션</a:t>
            </a:r>
            <a:endParaRPr lang="en-US" sz="1650" dirty="0"/>
          </a:p>
        </p:txBody>
      </p:sp>
      <p:sp>
        <p:nvSpPr>
          <p:cNvPr id="37" name="Text 35"/>
          <p:cNvSpPr txBox="1"/>
          <p:nvPr/>
        </p:nvSpPr>
        <p:spPr>
          <a:xfrm>
            <a:off x="9281160" y="35661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가격이 아니라 듀레이션,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기술을 누가 통제하는가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297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“이야기가 그럴듯할수록 숫자를 의심”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281160" y="4800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삼성전자 · SK하이닉스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 원칙  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주가를 예측하지 않는다. 이 사업이 2028년에도 현금을 뽑아내는지를 본다. 그 능력이 변하지 않으면, 가격은 언젠가 따라온다.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투자철학 → 매수·매도 판단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철학을 사고파는 규칙으로 바꿨습니다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206240" cy="4480560"/>
          </a:xfrm>
          <a:prstGeom prst="roundRect">
            <a:avLst>
              <a:gd name="adj" fmla="val 2174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규칙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468880"/>
            <a:ext cx="4572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4688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505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 구조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798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잠자는 동안에도 현금이 들어오는 사업인가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657600"/>
            <a:ext cx="4572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6393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확인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8678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이야기 대신 FCF·배당성향·점유율로 검증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46320"/>
            <a:ext cx="4572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8463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28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종류의 거위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517550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성장(듀레이션)과 배당(항심)을 함께 보유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169164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매도 규칙: “산 이유가 변했을 때만 판다”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2240280"/>
          <a:ext cx="6492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이유 (핵심지표)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신호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매출 비중 15%→38%, 5년 LTA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비중 상승 추세 꺾임, LTA 이탈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점유율 62%, FCF 전환율 82%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점유율 상실, 이익의 현금 전환 붕괴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배당성향 60%, FCF 커버리지 1.5배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배당성향 60% 하회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ARPU 32,000원대, 배당수익률 6%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ARPU 하락 전환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120640" y="5349240"/>
            <a:ext cx="6492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49240" y="53492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하락 자체는 매도 신호가 아니다. 지표가 유지되면 하락은 소음이고 매수 기회다.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종목 선정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종류의 거위를 50:50으로 담는 계획이었습니다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듀레이션의 거위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이익이 커지는 구조 · 기술주권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비중 50%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78892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898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898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양산 = 구조 변화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최초 HBM4 양산과 5년 장기공급계약. 고객이 가격과 물량을 미리 약속한 것이 4년 메모리 사이클을 넘어서는 해자다.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43484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4544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45445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62%, FCF 21→40조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983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“반도체 끝났다”는 이야기가 그럴듯할수록 숫자를 본다. 공급과잉 리스크는 직시하되, 산 이유는 변하지 않았다.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69164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항산항심 배당 거위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286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흔들리지 않는 현금 · 규제 산업 1등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비중 50%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92240" y="278892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75120" y="2898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898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6%대, 점유율 64%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담배는 매월 사는 사업이고 가격결정권이 있다. 주가가 횡보해도 매 분기 황금알이 들어온다.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92240" y="443484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4544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45445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6% + 40년 1등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4983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1994년 1억 투자가 연 배당 6천만 원이 됐다. 여기에 AI 데이터센터라는 다음 성장 서사가 붙었다.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AI 듀레이션의 거위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삼성전자와 SK하이닉스: 사이클에서 구조로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내재가치: 결정적 기술(HBM)을 통제하는 힘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603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내 입지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D램·낸드·파운드리·HBM을 모두 가진 유일한 기업. 세계 최초 HBM4 양산.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 변화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LTA로 가격·물량을 미리 약속받는 구조. 이익 변동성↓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 창출력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26년 1분기 영업이익 +756%. AI 서버당 HBM 80GB→1TB.</a:t>
            </a:r>
            <a:endParaRPr lang="en-US" sz="12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474720" y="2468880"/>
          <a:ext cx="2468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440680"/>
            <a:ext cx="53949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5440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103120" y="544068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매출 비중 15% → 38%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→ 2026.1Q · 50% 돌파 시 재평가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094476" y="1737360"/>
            <a:ext cx="0" cy="448056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16459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내재가치: HBM 독점이 만드는 현금창출력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25603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입지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점유율 62%, 엔비디아 HBM3E 공급의 90% 이상.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5204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현금흐름의 질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마진 60%+, 장기계약·선금으로 이익의 80% 이상이 현금으로.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44805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주주환원 변화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 50% 환원 정책, 2025년부터 중간배당·자사주 매입.</a:t>
            </a:r>
            <a:endParaRPr lang="en-US" sz="125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9144000" y="2468880"/>
          <a:ext cx="2468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17920" y="5440680"/>
            <a:ext cx="53949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0" y="5440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0" y="544068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 전환율 68% → 82%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→ 2026 · PER 9.6배보다 FCF 수익률 12%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6355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수치: DART 확정치(2024), FnGuide 컨센서스, 국내 증권사 리서치(2025~2026)를 참고해 재구성한 추정치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항산항심 배당 거위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KT&amp;G와 SK텔레콤: 흔들리지 않는 현금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내재가치: 성장이 아니라 ‘흔들리지 않음’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603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내 입지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담배 점유율 64%, 규제 산업 1등. 해외 전자담배 두 자릿수 성장.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현금흐름 안정성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설비투자가 적고 운전자본 변동이 거의 없어 불황에도 매출 유지.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정책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자사주 논란 이후에도 배당성향 60% 유지.</a:t>
            </a:r>
            <a:endParaRPr lang="en-US" sz="12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474720" y="2468880"/>
          <a:ext cx="2468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440680"/>
            <a:ext cx="53949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5440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103120" y="544068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배당금 ÷ FCF 55~62%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5년 · 60% 하회 시 산 이유가 변한 것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094476" y="1737360"/>
            <a:ext cx="0" cy="448056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16459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내재가치: 증명된 지속성 + AI 인프라 옵션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25603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내 입지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통신시장 점유율 40%, 40년 1등. 5G 가입자 1,500만 명.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5204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현금흐름의 질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배당수익률 6%대. 1994년 1억 원이 연 배당 6천만 원으로.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44805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성장축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데이터센터, 구독형 AI 에이전트로 확장.</a:t>
            </a:r>
            <a:endParaRPr lang="en-US" sz="125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9144000" y="2468880"/>
          <a:ext cx="2468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17920" y="5440680"/>
            <a:ext cx="53949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0" y="5440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0" y="544068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ARPU 32,000원대 유지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8분기 연속 하락 없음 · 본업 현금이 먼저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6355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수치: DART 확정치(2024), FnGuide 컨센서스, 국내 증권사 리서치(2025~2026)를 참고해 재구성한 추정치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Valuation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기업의 성격에 따라 방법론을 다르게 적용했습니다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1645920"/>
                <a:gridCol w="2560320"/>
                <a:gridCol w="2651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방법론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이유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SOTP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(HBM PSR 5배+, 레거시 PBR 1.5배)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PBR 하방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2028E BPS 145,000원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× PBR 2.2배 = 319,000원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성격이 다른 사업의 합이므로 사업별로 나눠 합산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FCF 할인모델 (DCF)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EV/EBITDA 6배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FY26~28 FCF 합계 80조원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WACC 9%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이익 급증기의 PER은 착시. 현금이 더 정확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배당할인모델 (DDM)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PBR 0.8배 하방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주당배당 5,500원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요구수익률 8%, 성장률 2%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가치 = 앞으로 받을 배당의 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DDM + SOTP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신사업 PSR 3배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주당배당 3,540원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요구수익률 7.5%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본업은 배당이 확실, 신사업은 옵션 가치로 가산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8064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기준: 기업본질 · 시장사이클 · 정책지배구조 3축 — AI 거위는 현금흐름으로, 배당 거위는 배당으로 가치를 잰다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계좌 수익률 -21.6%, 시장 급락을 그대로 맞았습니다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013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-21.6%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계좌 수익률 (2026.09.30)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2644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-1,728만 원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평가손익 (투자원금 8,014만 원)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7274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-20.7%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40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기간 코스피 시가총액 (6/25 → 9/22)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463040"/>
                <a:gridCol w="164592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보유수량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평균단가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평가손익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손익률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2,406,346원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-10,072,000원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-26.16%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110주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333,263원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-7,115,500원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-19.41%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87,329원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-89,600원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-1.80%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미편입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-17,277,100원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-21.56%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846320" y="4846320"/>
            <a:ext cx="67665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74920" y="4846320"/>
            <a:ext cx="6355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9/22 같은 날짜로 맞추면 포트폴리오 -19.1%, 코스피 시가총액 -20.7%. 시장보다 1.6%p 덜 잃었지만, 배당 거위로 방어한다는 계획은 작동하지 않았다.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모의투자 계좌 잔고 기준 (2026.09.30). 평균단가 = 매입금액 ÷ 보유수량. 코스피는 유가증권시장 전 종목 시가총액 합계 변화율, 배당 미포함.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 · 비중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계획은 50:50, 실제는 반도체 94%였습니다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4592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6459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675120" y="4754880"/>
            <a:ext cx="4937760" cy="1417320"/>
          </a:xfrm>
          <a:prstGeom prst="roundRect">
            <a:avLst>
              <a:gd name="adj" fmla="val 6452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계획대로 25%씩 담았다면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5193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-11.1%  vs  실제 -19.1%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903720" y="5669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9/22 종가 기준 · 비중의 차이만으로 8.0%p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5623560"/>
            <a:ext cx="58521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5623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반도체 두 종목이 -21.45%p, 배당 거위는 SK텔레콤 6%뿐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 · 경로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30일 -39.6%에도 팔지 않았습니다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4592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686800" y="1691640"/>
            <a:ext cx="2926080" cy="1325880"/>
          </a:xfrm>
          <a:prstGeom prst="roundRect">
            <a:avLst>
              <a:gd name="adj" fmla="val 689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69680" y="1828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7/30 저점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869680" y="22219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포트폴리오 -39.6%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계획대로였다면 -22.6%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0" y="3200400"/>
            <a:ext cx="2926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869680" y="3337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원칙은 지켰다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373075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핵심지표 변화 없음 → 매도하지 않음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“산 이유가 변하지 않으면 팔지 않는다”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86800" y="4709160"/>
            <a:ext cx="2926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696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저점 이후 회복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869680" y="5239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9/22 -19.1%까지 회복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저점에서 팔았다면 손실 확정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실제 = 보유 주식 평가액 ÷ 그날까지의 매입원가. 계획 = 6/30 종가 4종목 25%씩. 코스피 = 첫 매수일(6/25) 대비. 6/30 ~ 9/22 종가.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 · 매매 기록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하락할 때 사고, 팔지 않았습니다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4980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1600200"/>
                <a:gridCol w="914400"/>
                <a:gridCol w="1143000"/>
                <a:gridCol w="2286000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매입금액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2,048만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62% 독점, FCF 21조 → 첫 편입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06.26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250만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2,714만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HBM4 양산 + 5년 LTA 구조 변화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264만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 · 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30주 · 2주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951만 · 510만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7/2 급락, 산 이유 변화 없음 → 하락은 매수 기회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497만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 6%, ARPU 유지 → 항심 거위 편입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400만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고점 대비 -30% 구간 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377만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고점 대비 -35% 구간 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종목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코스피 시총 -33% 급락, 핵심지표 유지 → 매도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21040" y="1645920"/>
            <a:ext cx="3291840" cy="4526280"/>
          </a:xfrm>
          <a:prstGeom prst="roundRect">
            <a:avLst>
              <a:gd name="adj" fmla="val 2778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4964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매수 시점별 성과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매수 10주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256만 원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23317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-30.6%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7/3 매수 2주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255만 원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0" y="3017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-30.3%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3703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7/15 매수 2주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3977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200만 원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-11.3%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7/21 매수 2주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549640" y="4663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189만 원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0" y="4389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-5.8%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51206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 구간 분할 매수분은 손실이 작았다. 문제는 고점 부근에 비중 대부분을 한 번에 실은 것.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55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모의투자 거래내역 기준. 매수 후 매도 거래 없음. 매수 시점별 성과는 9/30 평가가격(1,776,846원) 기준.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판단 검증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 전 가정과 실제 결과를 비교했습니다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356616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투자 전 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HBM4·LTA로 사이클을 넘어선 구조.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 하락은 소음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-19.4% (평단 333,263원)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주가 고점 대비 최대 -38.0%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 미검증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3Q 실적으로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62% 독점.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하락은 매수 기회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-26.2%, 최대 낙폭 -50.1%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하락 구간 추가 매수는 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과소평가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 원칙은 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경기와 무관한 항산.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흔들리지 않는다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편입하지 않음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주가는 +4.5%, 최대 낙폭 -10.8%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가정은 맞았으나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실행하지 못함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배당이 마음의 평정을 지켜준다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-1.8% (비중 6%)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· 비중이 너무 작음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포트폴리오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종류의 거위로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여정을 간다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-21.6% (9/30)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계획대로였다면 -11.1% (9/22)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맞았으나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비중이 무너짐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355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주가 수익률·최대 낙폭은 2026.06.30 종가 기준, 9/22 종가까지. 계좌 수익률은 모의투자 잔고(9/30) 기준.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복기 · 판단 오류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비중과 가격, 두 가지를 지키지 못했습니다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28800"/>
            <a:ext cx="457200" cy="576072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880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28800"/>
            <a:ext cx="45720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계획서의 포트폴리오를 만들지 않았다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거위 (삼성·하이닉스)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 거위 (KT&amp;G·SKT)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편입 종목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 (KT&amp;G 없음)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77240" y="44348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계획 비중 -11.1% vs 실제 -19.1% → -8.0%p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7/30 저점 낙폭도 -22.6%가 아니라 -39.6%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645920"/>
            <a:ext cx="53035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1828800"/>
            <a:ext cx="457200" cy="576072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37960" y="182880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1828800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계산한 가치보다 비싸게 샀다</a:t>
            </a:r>
            <a:endParaRPr lang="en-US" sz="16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606040"/>
          <a:ext cx="48463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3736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계획서 내재가치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매입가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319,000원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333,263원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185조원 (FCF 가치)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시총 약 1,700조원대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74,000원 (DDM)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87,329원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6537960" y="44348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‘가격을 보지 않는다’가 ‘안전마진을 보지 않는다’로 변질.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첫 8주는 고점 부근(6/25)에서 한 번에 매수.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왜: 이야기가 그럴듯할수록 숫자를 의심하겠다던 내가 HBM 이야기에 확신을 더했다 (타당성 착각). 철학은 비중과 가격으로 실행되지 않으면 철학이 아니었다.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복기 · 앞으로의 원칙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보는 것은 맞았다. 그러나 구조에도 가격과 비중이 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548640" cy="6949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0116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상한을 먼저 정한다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5146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종목 30%, 같은 성격의 거위 합계 50%를 넘지 않는다. 확신이 클수록 상한을 먼저 확인한다.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1965960"/>
            <a:ext cx="548640" cy="6949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9659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20116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÷ 가격을 먼저 계산한다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25146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전 내재가치와 주가를 나란히 적는다. 안전마진 20% 이상일 때 매수하고, 부족하면 기다린다.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023360"/>
            <a:ext cx="548640" cy="6949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0233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069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매수를 규칙으로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4572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싣지 않는다. 하락 구간 매수분의 손실이 훨씬 작았다. 가격 구간별 매수 계획과 현금 20%를 미리 정한다.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7490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4023360"/>
            <a:ext cx="548640" cy="6949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0233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4069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계획서의 종목은 실행까지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4572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KT&amp;G의 가정은 맞았지만 담지 않아 방어하지 못했다. 매수 체크리스트로 계획과 계좌를 매주 대조한다.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8064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유지할 것: 소음을 끄고 구조를 본다, 산 이유가 변하지 않으면 팔지 않는다  ·  바꿀 것: 구조를 산 가격과 비중까지 검증한다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오연석 (2023). 행복부자학. 행복한부자학교 출판부.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최준철 (2018). 한국형 가치투자 (개정판). 부크온.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메리 버핏·데이비드 클라크 (2022). 워런 버핏 바이블 완결판. 흐름출판.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피터 린치·존 로스차일드 (2021). 전설로 떠나는 월가의 영웅 (개정증보판). 국일증권경제연구소.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알렉산더 카프·니컬러스 자미스카 (2024). 기술공화국 선언. 한국경제신문.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대니얼 카너먼 (2018). 생각에 관한 생각 (3판). 김영사.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하워드 막스 (2020). 투자에 대한 생각 (개정판). 비즈니스북스.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사업보고서 · IR · 리서치 · 시세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057400"/>
            <a:ext cx="5303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금융감독원 DART: 삼성전자(005930), SK하이닉스(000660), KT&amp;G(033780), SK텔레콤(017670) 사업보고서·분기보고서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에프앤가이드(FnGuide) 실적 컨센서스, 메리츠·삼성·키움증권 리서치 (2025~2026)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오연석, 행복부자학 네이버 카페 (2026): 삼성전자 시가총액·코스피 비중 분석 / 메리츠 Top Pick SK텔레콤과 통신 3사 배당 분석 / HBM4, 빅테크 Capex, 삼성·하이닉스의 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주가·시가총액: 한국거래소(KRX) 일별 시세 (2026.06.25 ~ 2026.09.22)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기록: 모의투자 계좌 거래내역·잔고 (2026.06.25 ~ 2026.09.30)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흔들리는 시장이 아니라, 흔들리지 않는 나를 만드는 포트폴리오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10월의 수익률이 아니라 2028년의 기업가치를 보고, 이제는 그 가치를 산 가격과 비중까지 검증합니다.  — 정현수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제10회 전국대학생 가치투자대회 최종보고서 - 정현수</dc:title>
  <dc:subject>PptxGenJS Presentation</dc:subject>
  <dc:creator>PptxGenJS</dc:creator>
  <cp:lastModifiedBy>PptxGenJS</cp:lastModifiedBy>
  <cp:revision>1</cp:revision>
  <dcterms:created xsi:type="dcterms:W3CDTF">2026-09-30T13:32:01Z</dcterms:created>
  <dcterms:modified xsi:type="dcterms:W3CDTF">2026-09-30T13:32:01Z</dcterms:modified>
</cp:coreProperties>
</file>