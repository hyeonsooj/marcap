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F73"/>
              </a:solidFill>
              <a:effectLst/>
            </c:spPr>
          </c:dPt>
          <c:dPt>
            <c:idx val="1"/>
            <c:bubble3D val="0"/>
            <c:spPr>
              <a:solidFill>
                <a:srgbClr val="5E9A9D"/>
              </a:solidFill>
              <a:effectLst/>
            </c:spPr>
          </c:dPt>
          <c:dPt>
            <c:idx val="2"/>
            <c:bubble3D val="0"/>
            <c:spPr>
              <a:solidFill>
                <a:srgbClr val="C9971C"/>
              </a:solidFill>
              <a:effectLst/>
            </c:spPr>
          </c:dPt>
          <c:dPt>
            <c:idx val="3"/>
            <c:bubble3D val="0"/>
            <c:spPr>
              <a:solidFill>
                <a:srgbClr val="E0BE6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삼성전자</c:v>
                </c:pt>
                <c:pt idx="1">
                  <c:v>SK하이닉스</c:v>
                </c:pt>
                <c:pt idx="2">
                  <c:v>KT&amp;G</c:v>
                </c:pt>
                <c:pt idx="3">
                  <c:v>SK텔레콤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영업이익 (조원)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 (조원)</c:v>
                </c:pt>
              </c:strCache>
            </c:strRef>
          </c:tx>
          <c:spPr>
            <a:solidFill>
              <a:srgbClr val="2F6F7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</c:v>
                  </c:pt>
                  <c:pt idx="1">
                    <c:v>FY-1</c:v>
                  </c:pt>
                  <c:pt idx="2">
                    <c:v>FY</c:v>
                  </c:pt>
                  <c:pt idx="3">
                    <c:v>FY+1(E)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32.7</c:v>
                </c:pt>
                <c:pt idx="1">
                  <c:v>42</c:v>
                </c:pt>
                <c:pt idx="2">
                  <c:v>58</c:v>
                </c:pt>
                <c:pt idx="3">
                  <c:v>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7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3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잉여현금흐름 FCF (조원)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잉여현금흐름 FCF (조원)</c:v>
                </c:pt>
              </c:strCache>
            </c:strRef>
          </c:tx>
          <c:spPr>
            <a:solidFill>
              <a:srgbClr val="2F6F7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</c:v>
                  </c:pt>
                  <c:pt idx="1">
                    <c:v>FY-1</c:v>
                  </c:pt>
                  <c:pt idx="2">
                    <c:v>FY</c:v>
                  </c:pt>
                  <c:pt idx="3">
                    <c:v>FY+1(E)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21</c:v>
                </c:pt>
                <c:pt idx="3">
                  <c:v>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7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3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배당수익률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배당수익률 (%)</c:v>
                </c:pt>
              </c:strCache>
            </c:strRef>
          </c:tx>
          <c:spPr>
            <a:solidFill>
              <a:srgbClr val="C9971C"/>
            </a:solidFill>
            <a:ln w="38100" cap="flat">
              <a:solidFill>
                <a:srgbClr val="C9971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9971C"/>
              </a:solidFill>
              <a:ln w="9525" cap="flat">
                <a:solidFill>
                  <a:srgbClr val="C997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FY-2</c:v>
                  </c:pt>
                  <c:pt idx="1">
                    <c:v>FY-1</c:v>
                  </c:pt>
                  <c:pt idx="2">
                    <c:v>FY</c:v>
                  </c:pt>
                  <c:pt idx="3">
                    <c:v>FY+1(E)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6</c:v>
                </c:pt>
                <c:pt idx="2">
                  <c:v>6.2</c:v>
                </c:pt>
                <c:pt idx="3">
                  <c:v>6.4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7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3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잉여현금흐름 FCF (조원)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잉여현금흐름 FCF (조원)</c:v>
                </c:pt>
              </c:strCache>
            </c:strRef>
          </c:tx>
          <c:spPr>
            <a:solidFill>
              <a:srgbClr val="C9971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FY-2</c:v>
                  </c:pt>
                  <c:pt idx="1">
                    <c:v>FY-1</c:v>
                  </c:pt>
                  <c:pt idx="2">
                    <c:v>FY</c:v>
                  </c:pt>
                  <c:pt idx="3">
                    <c:v>FY+1(E)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1.62</c:v>
                </c:pt>
                <c:pt idx="1">
                  <c:v>1.7</c:v>
                </c:pt>
                <c:pt idx="2">
                  <c:v>1.8</c:v>
                </c:pt>
                <c:pt idx="3">
                  <c:v>1.9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7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3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종목별 주가 수익률 (%, 6/30 → 9/22)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수익률</c:v>
                </c:pt>
              </c:strCache>
            </c:strRef>
          </c:tx>
          <c:spPr>
            <a:solidFill>
              <a:srgbClr val="2F6F73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KT&amp;G</c:v>
                  </c:pt>
                  <c:pt idx="1">
                    <c:v>SK텔레콤</c:v>
                  </c:pt>
                  <c:pt idx="2">
                    <c:v>코스피(시총)</c:v>
                  </c:pt>
                  <c:pt idx="3">
                    <c:v>삼성전자</c:v>
                  </c:pt>
                  <c:pt idx="4">
                    <c:v>SK하이닉스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4.48</c:v>
                </c:pt>
                <c:pt idx="1">
                  <c:v>-1.24</c:v>
                </c:pt>
                <c:pt idx="2">
                  <c:v>-16.37</c:v>
                </c:pt>
                <c:pt idx="3">
                  <c:v>-17.22</c:v>
                </c:pt>
                <c:pt idx="4">
                  <c:v>-30.57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200" u="none">
                  <a:solidFill>
                    <a:srgbClr val="1C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2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누적 수익률 (%, 2026.06.30 = 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1F4E52"/>
            </a:solidFill>
            <a:ln w="25400" cap="flat">
              <a:solidFill>
                <a:srgbClr val="1F4E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52"/>
              </a:solidFill>
              <a:ln w="9525" cap="flat">
                <a:solidFill>
                  <a:srgbClr val="1F4E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Sheet1!$A$2:$A$60</c:f>
              <c:multiLvlStrCache>
                <c:ptCount val="59"/>
                <c:lvl>
                  <c:pt idx="0">
                    <c:v>06/30</c:v>
                  </c:pt>
                  <c:pt idx="1">
                    <c:v>07/01</c:v>
                  </c:pt>
                  <c:pt idx="2">
                    <c:v>07/02</c:v>
                  </c:pt>
                  <c:pt idx="3">
                    <c:v>07/03</c:v>
                  </c:pt>
                  <c:pt idx="4">
                    <c:v>07/06</c:v>
                  </c:pt>
                  <c:pt idx="5">
                    <c:v>07/07</c:v>
                  </c:pt>
                  <c:pt idx="6">
                    <c:v>07/08</c:v>
                  </c:pt>
                  <c:pt idx="7">
                    <c:v>07/09</c:v>
                  </c:pt>
                  <c:pt idx="8">
                    <c:v>07/10</c:v>
                  </c:pt>
                  <c:pt idx="9">
                    <c:v>07/13</c:v>
                  </c:pt>
                  <c:pt idx="10">
                    <c:v>07/14</c:v>
                  </c:pt>
                  <c:pt idx="11">
                    <c:v>07/15</c:v>
                  </c:pt>
                  <c:pt idx="12">
                    <c:v>07/16</c:v>
                  </c:pt>
                  <c:pt idx="13">
                    <c:v>07/20</c:v>
                  </c:pt>
                  <c:pt idx="14">
                    <c:v>07/21</c:v>
                  </c:pt>
                  <c:pt idx="15">
                    <c:v>07/22</c:v>
                  </c:pt>
                  <c:pt idx="16">
                    <c:v>07/23</c:v>
                  </c:pt>
                  <c:pt idx="17">
                    <c:v>07/24</c:v>
                  </c:pt>
                  <c:pt idx="18">
                    <c:v>07/27</c:v>
                  </c:pt>
                  <c:pt idx="19">
                    <c:v>07/28</c:v>
                  </c:pt>
                  <c:pt idx="20">
                    <c:v>07/29</c:v>
                  </c:pt>
                  <c:pt idx="21">
                    <c:v>07/30</c:v>
                  </c:pt>
                  <c:pt idx="22">
                    <c:v>07/31</c:v>
                  </c:pt>
                  <c:pt idx="23">
                    <c:v>08/03</c:v>
                  </c:pt>
                  <c:pt idx="24">
                    <c:v>08/04</c:v>
                  </c:pt>
                  <c:pt idx="25">
                    <c:v>08/05</c:v>
                  </c:pt>
                  <c:pt idx="26">
                    <c:v>08/06</c:v>
                  </c:pt>
                  <c:pt idx="27">
                    <c:v>08/07</c:v>
                  </c:pt>
                  <c:pt idx="28">
                    <c:v>08/10</c:v>
                  </c:pt>
                  <c:pt idx="29">
                    <c:v>08/11</c:v>
                  </c:pt>
                  <c:pt idx="30">
                    <c:v>08/12</c:v>
                  </c:pt>
                  <c:pt idx="31">
                    <c:v>08/13</c:v>
                  </c:pt>
                  <c:pt idx="32">
                    <c:v>08/14</c:v>
                  </c:pt>
                  <c:pt idx="33">
                    <c:v>08/18</c:v>
                  </c:pt>
                  <c:pt idx="34">
                    <c:v>08/19</c:v>
                  </c:pt>
                  <c:pt idx="35">
                    <c:v>08/20</c:v>
                  </c:pt>
                  <c:pt idx="36">
                    <c:v>08/21</c:v>
                  </c:pt>
                  <c:pt idx="37">
                    <c:v>08/24</c:v>
                  </c:pt>
                  <c:pt idx="38">
                    <c:v>08/25</c:v>
                  </c:pt>
                  <c:pt idx="39">
                    <c:v>08/26</c:v>
                  </c:pt>
                  <c:pt idx="40">
                    <c:v>08/27</c:v>
                  </c:pt>
                  <c:pt idx="41">
                    <c:v>08/28</c:v>
                  </c:pt>
                  <c:pt idx="42">
                    <c:v>08/31</c:v>
                  </c:pt>
                  <c:pt idx="43">
                    <c:v>09/01</c:v>
                  </c:pt>
                  <c:pt idx="44">
                    <c:v>09/02</c:v>
                  </c:pt>
                  <c:pt idx="45">
                    <c:v>09/03</c:v>
                  </c:pt>
                  <c:pt idx="46">
                    <c:v>09/04</c:v>
                  </c:pt>
                  <c:pt idx="47">
                    <c:v>09/07</c:v>
                  </c:pt>
                  <c:pt idx="48">
                    <c:v>09/08</c:v>
                  </c:pt>
                  <c:pt idx="49">
                    <c:v>09/09</c:v>
                  </c:pt>
                  <c:pt idx="50">
                    <c:v>09/10</c:v>
                  </c:pt>
                  <c:pt idx="51">
                    <c:v>09/11</c:v>
                  </c:pt>
                  <c:pt idx="52">
                    <c:v>09/14</c:v>
                  </c:pt>
                  <c:pt idx="53">
                    <c:v>09/15</c:v>
                  </c:pt>
                  <c:pt idx="54">
                    <c:v>09/16</c:v>
                  </c:pt>
                  <c:pt idx="55">
                    <c:v>09/17</c:v>
                  </c:pt>
                  <c:pt idx="56">
                    <c:v>09/18</c:v>
                  </c:pt>
                  <c:pt idx="57">
                    <c:v>09/21</c:v>
                  </c:pt>
                  <c:pt idx="58">
                    <c:v>09/22</c:v>
                  </c:pt>
                </c:lvl>
              </c:multiLvlStrCache>
            </c:multiLvlStrRef>
          </c:cat>
          <c:val>
            <c:numRef>
              <c:f>Sheet1!$B$2:$B$60</c:f>
              <c:numCache>
                <c:formatCode>General</c:formatCode>
                <c:ptCount val="59"/>
                <c:pt idx="0">
                  <c:v>0</c:v>
                </c:pt>
                <c:pt idx="1">
                  <c:v>-3.4</c:v>
                </c:pt>
                <c:pt idx="2">
                  <c:v>-17.47</c:v>
                </c:pt>
                <c:pt idx="3">
                  <c:v>-8.49</c:v>
                </c:pt>
                <c:pt idx="4">
                  <c:v>-11.58</c:v>
                </c:pt>
                <c:pt idx="5">
                  <c:v>-16.94</c:v>
                </c:pt>
                <c:pt idx="6">
                  <c:v>-21.66</c:v>
                </c:pt>
                <c:pt idx="7">
                  <c:v>-17.51</c:v>
                </c:pt>
                <c:pt idx="8">
                  <c:v>-17.74</c:v>
                </c:pt>
                <c:pt idx="9">
                  <c:v>-30.38</c:v>
                </c:pt>
                <c:pt idx="10">
                  <c:v>-27.81</c:v>
                </c:pt>
                <c:pt idx="11">
                  <c:v>-21.43</c:v>
                </c:pt>
                <c:pt idx="12">
                  <c:v>-30.49</c:v>
                </c:pt>
                <c:pt idx="13">
                  <c:v>-33.43</c:v>
                </c:pt>
                <c:pt idx="14">
                  <c:v>-30.72</c:v>
                </c:pt>
                <c:pt idx="15">
                  <c:v>-30.94</c:v>
                </c:pt>
                <c:pt idx="16">
                  <c:v>-27.58</c:v>
                </c:pt>
                <c:pt idx="17">
                  <c:v>-33.62</c:v>
                </c:pt>
                <c:pt idx="18">
                  <c:v>-31.47</c:v>
                </c:pt>
                <c:pt idx="19">
                  <c:v>-41.51</c:v>
                </c:pt>
                <c:pt idx="20">
                  <c:v>-47.13</c:v>
                </c:pt>
                <c:pt idx="21">
                  <c:v>-50.11</c:v>
                </c:pt>
                <c:pt idx="22">
                  <c:v>-35.17</c:v>
                </c:pt>
                <c:pt idx="23">
                  <c:v>-40.87</c:v>
                </c:pt>
                <c:pt idx="24">
                  <c:v>-40.49</c:v>
                </c:pt>
                <c:pt idx="25">
                  <c:v>-37.06</c:v>
                </c:pt>
                <c:pt idx="26">
                  <c:v>-43.58</c:v>
                </c:pt>
                <c:pt idx="27">
                  <c:v>-46.34</c:v>
                </c:pt>
                <c:pt idx="28">
                  <c:v>-46.42</c:v>
                </c:pt>
                <c:pt idx="29">
                  <c:v>-46.23</c:v>
                </c:pt>
                <c:pt idx="30">
                  <c:v>-43.25</c:v>
                </c:pt>
                <c:pt idx="31">
                  <c:v>-39.89</c:v>
                </c:pt>
                <c:pt idx="32">
                  <c:v>-37.92</c:v>
                </c:pt>
                <c:pt idx="33">
                  <c:v>-37.28</c:v>
                </c:pt>
                <c:pt idx="34">
                  <c:v>-43.4</c:v>
                </c:pt>
                <c:pt idx="35">
                  <c:v>-36.19</c:v>
                </c:pt>
                <c:pt idx="36">
                  <c:v>-34.72</c:v>
                </c:pt>
                <c:pt idx="37">
                  <c:v>-36.94</c:v>
                </c:pt>
                <c:pt idx="38">
                  <c:v>-36.68</c:v>
                </c:pt>
                <c:pt idx="39">
                  <c:v>-36.3</c:v>
                </c:pt>
                <c:pt idx="40">
                  <c:v>-34.72</c:v>
                </c:pt>
                <c:pt idx="41">
                  <c:v>-37.62</c:v>
                </c:pt>
                <c:pt idx="42">
                  <c:v>-36.83</c:v>
                </c:pt>
                <c:pt idx="43">
                  <c:v>-36.11</c:v>
                </c:pt>
                <c:pt idx="44">
                  <c:v>-39.13</c:v>
                </c:pt>
                <c:pt idx="45">
                  <c:v>-39.77</c:v>
                </c:pt>
                <c:pt idx="46">
                  <c:v>-37.85</c:v>
                </c:pt>
                <c:pt idx="47">
                  <c:v>-32.72</c:v>
                </c:pt>
                <c:pt idx="48">
                  <c:v>-32.34</c:v>
                </c:pt>
                <c:pt idx="49">
                  <c:v>-29.96</c:v>
                </c:pt>
                <c:pt idx="50">
                  <c:v>-30.08</c:v>
                </c:pt>
                <c:pt idx="51">
                  <c:v>-31.62</c:v>
                </c:pt>
                <c:pt idx="52">
                  <c:v>-35.96</c:v>
                </c:pt>
                <c:pt idx="53">
                  <c:v>-36.23</c:v>
                </c:pt>
                <c:pt idx="54">
                  <c:v>-33.62</c:v>
                </c:pt>
                <c:pt idx="55">
                  <c:v>-34.15</c:v>
                </c:pt>
                <c:pt idx="56">
                  <c:v>-29.92</c:v>
                </c:pt>
                <c:pt idx="57">
                  <c:v>-29.51</c:v>
                </c:pt>
                <c:pt idx="58">
                  <c:v>-30.57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6FA8AB"/>
            </a:solidFill>
            <a:ln w="25400" cap="flat">
              <a:solidFill>
                <a:srgbClr val="6FA8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FA8AB"/>
              </a:solidFill>
              <a:ln w="9525" cap="flat">
                <a:solidFill>
                  <a:srgbClr val="6FA8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Sheet1!$A$2:$A$60</c:f>
              <c:multiLvlStrCache>
                <c:ptCount val="59"/>
                <c:lvl>
                  <c:pt idx="0">
                    <c:v>06/30</c:v>
                  </c:pt>
                  <c:pt idx="1">
                    <c:v>07/01</c:v>
                  </c:pt>
                  <c:pt idx="2">
                    <c:v>07/02</c:v>
                  </c:pt>
                  <c:pt idx="3">
                    <c:v>07/03</c:v>
                  </c:pt>
                  <c:pt idx="4">
                    <c:v>07/06</c:v>
                  </c:pt>
                  <c:pt idx="5">
                    <c:v>07/07</c:v>
                  </c:pt>
                  <c:pt idx="6">
                    <c:v>07/08</c:v>
                  </c:pt>
                  <c:pt idx="7">
                    <c:v>07/09</c:v>
                  </c:pt>
                  <c:pt idx="8">
                    <c:v>07/10</c:v>
                  </c:pt>
                  <c:pt idx="9">
                    <c:v>07/13</c:v>
                  </c:pt>
                  <c:pt idx="10">
                    <c:v>07/14</c:v>
                  </c:pt>
                  <c:pt idx="11">
                    <c:v>07/15</c:v>
                  </c:pt>
                  <c:pt idx="12">
                    <c:v>07/16</c:v>
                  </c:pt>
                  <c:pt idx="13">
                    <c:v>07/20</c:v>
                  </c:pt>
                  <c:pt idx="14">
                    <c:v>07/21</c:v>
                  </c:pt>
                  <c:pt idx="15">
                    <c:v>07/22</c:v>
                  </c:pt>
                  <c:pt idx="16">
                    <c:v>07/23</c:v>
                  </c:pt>
                  <c:pt idx="17">
                    <c:v>07/24</c:v>
                  </c:pt>
                  <c:pt idx="18">
                    <c:v>07/27</c:v>
                  </c:pt>
                  <c:pt idx="19">
                    <c:v>07/28</c:v>
                  </c:pt>
                  <c:pt idx="20">
                    <c:v>07/29</c:v>
                  </c:pt>
                  <c:pt idx="21">
                    <c:v>07/30</c:v>
                  </c:pt>
                  <c:pt idx="22">
                    <c:v>07/31</c:v>
                  </c:pt>
                  <c:pt idx="23">
                    <c:v>08/03</c:v>
                  </c:pt>
                  <c:pt idx="24">
                    <c:v>08/04</c:v>
                  </c:pt>
                  <c:pt idx="25">
                    <c:v>08/05</c:v>
                  </c:pt>
                  <c:pt idx="26">
                    <c:v>08/06</c:v>
                  </c:pt>
                  <c:pt idx="27">
                    <c:v>08/07</c:v>
                  </c:pt>
                  <c:pt idx="28">
                    <c:v>08/10</c:v>
                  </c:pt>
                  <c:pt idx="29">
                    <c:v>08/11</c:v>
                  </c:pt>
                  <c:pt idx="30">
                    <c:v>08/12</c:v>
                  </c:pt>
                  <c:pt idx="31">
                    <c:v>08/13</c:v>
                  </c:pt>
                  <c:pt idx="32">
                    <c:v>08/14</c:v>
                  </c:pt>
                  <c:pt idx="33">
                    <c:v>08/18</c:v>
                  </c:pt>
                  <c:pt idx="34">
                    <c:v>08/19</c:v>
                  </c:pt>
                  <c:pt idx="35">
                    <c:v>08/20</c:v>
                  </c:pt>
                  <c:pt idx="36">
                    <c:v>08/21</c:v>
                  </c:pt>
                  <c:pt idx="37">
                    <c:v>08/24</c:v>
                  </c:pt>
                  <c:pt idx="38">
                    <c:v>08/25</c:v>
                  </c:pt>
                  <c:pt idx="39">
                    <c:v>08/26</c:v>
                  </c:pt>
                  <c:pt idx="40">
                    <c:v>08/27</c:v>
                  </c:pt>
                  <c:pt idx="41">
                    <c:v>08/28</c:v>
                  </c:pt>
                  <c:pt idx="42">
                    <c:v>08/31</c:v>
                  </c:pt>
                  <c:pt idx="43">
                    <c:v>09/01</c:v>
                  </c:pt>
                  <c:pt idx="44">
                    <c:v>09/02</c:v>
                  </c:pt>
                  <c:pt idx="45">
                    <c:v>09/03</c:v>
                  </c:pt>
                  <c:pt idx="46">
                    <c:v>09/04</c:v>
                  </c:pt>
                  <c:pt idx="47">
                    <c:v>09/07</c:v>
                  </c:pt>
                  <c:pt idx="48">
                    <c:v>09/08</c:v>
                  </c:pt>
                  <c:pt idx="49">
                    <c:v>09/09</c:v>
                  </c:pt>
                  <c:pt idx="50">
                    <c:v>09/10</c:v>
                  </c:pt>
                  <c:pt idx="51">
                    <c:v>09/11</c:v>
                  </c:pt>
                  <c:pt idx="52">
                    <c:v>09/14</c:v>
                  </c:pt>
                  <c:pt idx="53">
                    <c:v>09/15</c:v>
                  </c:pt>
                  <c:pt idx="54">
                    <c:v>09/16</c:v>
                  </c:pt>
                  <c:pt idx="55">
                    <c:v>09/17</c:v>
                  </c:pt>
                  <c:pt idx="56">
                    <c:v>09/18</c:v>
                  </c:pt>
                  <c:pt idx="57">
                    <c:v>09/21</c:v>
                  </c:pt>
                  <c:pt idx="58">
                    <c:v>09/22</c:v>
                  </c:pt>
                </c:lvl>
              </c:multiLvlStrCache>
            </c:multiLvlStrRef>
          </c:cat>
          <c:val>
            <c:numRef>
              <c:f>Sheet1!$C$2:$C$60</c:f>
              <c:numCache>
                <c:formatCode>General</c:formatCode>
                <c:ptCount val="59"/>
                <c:pt idx="0">
                  <c:v>0</c:v>
                </c:pt>
                <c:pt idx="1">
                  <c:v>-5.84</c:v>
                </c:pt>
                <c:pt idx="2">
                  <c:v>-14.37</c:v>
                </c:pt>
                <c:pt idx="3">
                  <c:v>-7.34</c:v>
                </c:pt>
                <c:pt idx="4">
                  <c:v>-4.79</c:v>
                </c:pt>
                <c:pt idx="5">
                  <c:v>-11.38</c:v>
                </c:pt>
                <c:pt idx="6">
                  <c:v>-16.92</c:v>
                </c:pt>
                <c:pt idx="7">
                  <c:v>-16.77</c:v>
                </c:pt>
                <c:pt idx="8">
                  <c:v>-14.67</c:v>
                </c:pt>
                <c:pt idx="9">
                  <c:v>-23.8</c:v>
                </c:pt>
                <c:pt idx="10">
                  <c:v>-21.26</c:v>
                </c:pt>
                <c:pt idx="11">
                  <c:v>-16.32</c:v>
                </c:pt>
                <c:pt idx="12">
                  <c:v>-23.65</c:v>
                </c:pt>
                <c:pt idx="13">
                  <c:v>-26.95</c:v>
                </c:pt>
                <c:pt idx="14">
                  <c:v>-22.46</c:v>
                </c:pt>
                <c:pt idx="15">
                  <c:v>-22.01</c:v>
                </c:pt>
                <c:pt idx="16">
                  <c:v>-19.16</c:v>
                </c:pt>
                <c:pt idx="17">
                  <c:v>-25.3</c:v>
                </c:pt>
                <c:pt idx="18">
                  <c:v>-23.95</c:v>
                </c:pt>
                <c:pt idx="19">
                  <c:v>-34.13</c:v>
                </c:pt>
                <c:pt idx="20">
                  <c:v>-37.57</c:v>
                </c:pt>
                <c:pt idx="21">
                  <c:v>-38.02</c:v>
                </c:pt>
                <c:pt idx="22">
                  <c:v>-21.41</c:v>
                </c:pt>
                <c:pt idx="23">
                  <c:v>-28.29</c:v>
                </c:pt>
                <c:pt idx="24">
                  <c:v>-28.14</c:v>
                </c:pt>
                <c:pt idx="25">
                  <c:v>-26.35</c:v>
                </c:pt>
                <c:pt idx="26">
                  <c:v>-30.99</c:v>
                </c:pt>
                <c:pt idx="27">
                  <c:v>-30.84</c:v>
                </c:pt>
                <c:pt idx="28">
                  <c:v>-31.14</c:v>
                </c:pt>
                <c:pt idx="29">
                  <c:v>-28.29</c:v>
                </c:pt>
                <c:pt idx="30">
                  <c:v>-23.5</c:v>
                </c:pt>
                <c:pt idx="31">
                  <c:v>-19.76</c:v>
                </c:pt>
                <c:pt idx="32">
                  <c:v>-17.81</c:v>
                </c:pt>
                <c:pt idx="33">
                  <c:v>-19.61</c:v>
                </c:pt>
                <c:pt idx="34">
                  <c:v>-25.9</c:v>
                </c:pt>
                <c:pt idx="35">
                  <c:v>-18.86</c:v>
                </c:pt>
                <c:pt idx="36">
                  <c:v>-15.72</c:v>
                </c:pt>
                <c:pt idx="37">
                  <c:v>-23.05</c:v>
                </c:pt>
                <c:pt idx="38">
                  <c:v>-23.05</c:v>
                </c:pt>
                <c:pt idx="39">
                  <c:v>-21.71</c:v>
                </c:pt>
                <c:pt idx="40">
                  <c:v>-20.36</c:v>
                </c:pt>
                <c:pt idx="41">
                  <c:v>-23.05</c:v>
                </c:pt>
                <c:pt idx="42">
                  <c:v>-22.16</c:v>
                </c:pt>
                <c:pt idx="43">
                  <c:v>-21.86</c:v>
                </c:pt>
                <c:pt idx="44">
                  <c:v>-25</c:v>
                </c:pt>
                <c:pt idx="45">
                  <c:v>-25.15</c:v>
                </c:pt>
                <c:pt idx="46">
                  <c:v>-23.5</c:v>
                </c:pt>
                <c:pt idx="47">
                  <c:v>-19.16</c:v>
                </c:pt>
                <c:pt idx="48">
                  <c:v>-19.31</c:v>
                </c:pt>
                <c:pt idx="49">
                  <c:v>-19.31</c:v>
                </c:pt>
                <c:pt idx="50">
                  <c:v>-19.46</c:v>
                </c:pt>
                <c:pt idx="51">
                  <c:v>-22.31</c:v>
                </c:pt>
                <c:pt idx="52">
                  <c:v>-25.45</c:v>
                </c:pt>
                <c:pt idx="53">
                  <c:v>-25.6</c:v>
                </c:pt>
                <c:pt idx="54">
                  <c:v>-24.1</c:v>
                </c:pt>
                <c:pt idx="55">
                  <c:v>-24.4</c:v>
                </c:pt>
                <c:pt idx="56">
                  <c:v>-21.86</c:v>
                </c:pt>
                <c:pt idx="57">
                  <c:v>-17.96</c:v>
                </c:pt>
                <c:pt idx="58">
                  <c:v>-17.22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SK텔레콤</c:v>
                </c:pt>
              </c:strCache>
            </c:strRef>
          </c:tx>
          <c:spPr>
            <a:solidFill>
              <a:srgbClr val="A8780F"/>
            </a:solidFill>
            <a:ln w="25400" cap="flat">
              <a:solidFill>
                <a:srgbClr val="A878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8780F"/>
              </a:solidFill>
              <a:ln w="9525" cap="flat">
                <a:solidFill>
                  <a:srgbClr val="A878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Sheet1!$A$2:$A$60</c:f>
              <c:multiLvlStrCache>
                <c:ptCount val="59"/>
                <c:lvl>
                  <c:pt idx="0">
                    <c:v>06/30</c:v>
                  </c:pt>
                  <c:pt idx="1">
                    <c:v>07/01</c:v>
                  </c:pt>
                  <c:pt idx="2">
                    <c:v>07/02</c:v>
                  </c:pt>
                  <c:pt idx="3">
                    <c:v>07/03</c:v>
                  </c:pt>
                  <c:pt idx="4">
                    <c:v>07/06</c:v>
                  </c:pt>
                  <c:pt idx="5">
                    <c:v>07/07</c:v>
                  </c:pt>
                  <c:pt idx="6">
                    <c:v>07/08</c:v>
                  </c:pt>
                  <c:pt idx="7">
                    <c:v>07/09</c:v>
                  </c:pt>
                  <c:pt idx="8">
                    <c:v>07/10</c:v>
                  </c:pt>
                  <c:pt idx="9">
                    <c:v>07/13</c:v>
                  </c:pt>
                  <c:pt idx="10">
                    <c:v>07/14</c:v>
                  </c:pt>
                  <c:pt idx="11">
                    <c:v>07/15</c:v>
                  </c:pt>
                  <c:pt idx="12">
                    <c:v>07/16</c:v>
                  </c:pt>
                  <c:pt idx="13">
                    <c:v>07/20</c:v>
                  </c:pt>
                  <c:pt idx="14">
                    <c:v>07/21</c:v>
                  </c:pt>
                  <c:pt idx="15">
                    <c:v>07/22</c:v>
                  </c:pt>
                  <c:pt idx="16">
                    <c:v>07/23</c:v>
                  </c:pt>
                  <c:pt idx="17">
                    <c:v>07/24</c:v>
                  </c:pt>
                  <c:pt idx="18">
                    <c:v>07/27</c:v>
                  </c:pt>
                  <c:pt idx="19">
                    <c:v>07/28</c:v>
                  </c:pt>
                  <c:pt idx="20">
                    <c:v>07/29</c:v>
                  </c:pt>
                  <c:pt idx="21">
                    <c:v>07/30</c:v>
                  </c:pt>
                  <c:pt idx="22">
                    <c:v>07/31</c:v>
                  </c:pt>
                  <c:pt idx="23">
                    <c:v>08/03</c:v>
                  </c:pt>
                  <c:pt idx="24">
                    <c:v>08/04</c:v>
                  </c:pt>
                  <c:pt idx="25">
                    <c:v>08/05</c:v>
                  </c:pt>
                  <c:pt idx="26">
                    <c:v>08/06</c:v>
                  </c:pt>
                  <c:pt idx="27">
                    <c:v>08/07</c:v>
                  </c:pt>
                  <c:pt idx="28">
                    <c:v>08/10</c:v>
                  </c:pt>
                  <c:pt idx="29">
                    <c:v>08/11</c:v>
                  </c:pt>
                  <c:pt idx="30">
                    <c:v>08/12</c:v>
                  </c:pt>
                  <c:pt idx="31">
                    <c:v>08/13</c:v>
                  </c:pt>
                  <c:pt idx="32">
                    <c:v>08/14</c:v>
                  </c:pt>
                  <c:pt idx="33">
                    <c:v>08/18</c:v>
                  </c:pt>
                  <c:pt idx="34">
                    <c:v>08/19</c:v>
                  </c:pt>
                  <c:pt idx="35">
                    <c:v>08/20</c:v>
                  </c:pt>
                  <c:pt idx="36">
                    <c:v>08/21</c:v>
                  </c:pt>
                  <c:pt idx="37">
                    <c:v>08/24</c:v>
                  </c:pt>
                  <c:pt idx="38">
                    <c:v>08/25</c:v>
                  </c:pt>
                  <c:pt idx="39">
                    <c:v>08/26</c:v>
                  </c:pt>
                  <c:pt idx="40">
                    <c:v>08/27</c:v>
                  </c:pt>
                  <c:pt idx="41">
                    <c:v>08/28</c:v>
                  </c:pt>
                  <c:pt idx="42">
                    <c:v>08/31</c:v>
                  </c:pt>
                  <c:pt idx="43">
                    <c:v>09/01</c:v>
                  </c:pt>
                  <c:pt idx="44">
                    <c:v>09/02</c:v>
                  </c:pt>
                  <c:pt idx="45">
                    <c:v>09/03</c:v>
                  </c:pt>
                  <c:pt idx="46">
                    <c:v>09/04</c:v>
                  </c:pt>
                  <c:pt idx="47">
                    <c:v>09/07</c:v>
                  </c:pt>
                  <c:pt idx="48">
                    <c:v>09/08</c:v>
                  </c:pt>
                  <c:pt idx="49">
                    <c:v>09/09</c:v>
                  </c:pt>
                  <c:pt idx="50">
                    <c:v>09/10</c:v>
                  </c:pt>
                  <c:pt idx="51">
                    <c:v>09/11</c:v>
                  </c:pt>
                  <c:pt idx="52">
                    <c:v>09/14</c:v>
                  </c:pt>
                  <c:pt idx="53">
                    <c:v>09/15</c:v>
                  </c:pt>
                  <c:pt idx="54">
                    <c:v>09/16</c:v>
                  </c:pt>
                  <c:pt idx="55">
                    <c:v>09/17</c:v>
                  </c:pt>
                  <c:pt idx="56">
                    <c:v>09/18</c:v>
                  </c:pt>
                  <c:pt idx="57">
                    <c:v>09/21</c:v>
                  </c:pt>
                  <c:pt idx="58">
                    <c:v>09/22</c:v>
                  </c:pt>
                </c:lvl>
              </c:multiLvlStrCache>
            </c:multiLvlStrRef>
          </c:cat>
          <c:val>
            <c:numRef>
              <c:f>Sheet1!$D$2:$D$60</c:f>
              <c:numCache>
                <c:formatCode>General</c:formatCode>
                <c:ptCount val="59"/>
                <c:pt idx="0">
                  <c:v>0</c:v>
                </c:pt>
                <c:pt idx="1">
                  <c:v>0.23</c:v>
                </c:pt>
                <c:pt idx="2">
                  <c:v>-1.13</c:v>
                </c:pt>
                <c:pt idx="3">
                  <c:v>-2.26</c:v>
                </c:pt>
                <c:pt idx="4">
                  <c:v>-2.49</c:v>
                </c:pt>
                <c:pt idx="5">
                  <c:v>-3.62</c:v>
                </c:pt>
                <c:pt idx="6">
                  <c:v>-4.98</c:v>
                </c:pt>
                <c:pt idx="7">
                  <c:v>-1.92</c:v>
                </c:pt>
                <c:pt idx="8">
                  <c:v>0.34</c:v>
                </c:pt>
                <c:pt idx="9">
                  <c:v>-3.05</c:v>
                </c:pt>
                <c:pt idx="10">
                  <c:v>-5.09</c:v>
                </c:pt>
                <c:pt idx="11">
                  <c:v>-3.85</c:v>
                </c:pt>
                <c:pt idx="12">
                  <c:v>1.47</c:v>
                </c:pt>
                <c:pt idx="13">
                  <c:v>-4.19</c:v>
                </c:pt>
                <c:pt idx="14">
                  <c:v>-3.73</c:v>
                </c:pt>
                <c:pt idx="15">
                  <c:v>6.45</c:v>
                </c:pt>
                <c:pt idx="16">
                  <c:v>12.56</c:v>
                </c:pt>
                <c:pt idx="17">
                  <c:v>13.12</c:v>
                </c:pt>
                <c:pt idx="18">
                  <c:v>10.75</c:v>
                </c:pt>
                <c:pt idx="19">
                  <c:v>-7.01</c:v>
                </c:pt>
                <c:pt idx="20">
                  <c:v>-11.09</c:v>
                </c:pt>
                <c:pt idx="21">
                  <c:v>-11.54</c:v>
                </c:pt>
                <c:pt idx="22">
                  <c:v>-7.92</c:v>
                </c:pt>
                <c:pt idx="23">
                  <c:v>-7.24</c:v>
                </c:pt>
                <c:pt idx="24">
                  <c:v>3.39</c:v>
                </c:pt>
                <c:pt idx="25">
                  <c:v>5.2</c:v>
                </c:pt>
                <c:pt idx="26">
                  <c:v>3.05</c:v>
                </c:pt>
                <c:pt idx="27">
                  <c:v>-0.23</c:v>
                </c:pt>
                <c:pt idx="28">
                  <c:v>-3.85</c:v>
                </c:pt>
                <c:pt idx="29">
                  <c:v>-2.71</c:v>
                </c:pt>
                <c:pt idx="30">
                  <c:v>-0.68</c:v>
                </c:pt>
                <c:pt idx="31">
                  <c:v>3.05</c:v>
                </c:pt>
                <c:pt idx="32">
                  <c:v>13.69</c:v>
                </c:pt>
                <c:pt idx="33">
                  <c:v>12.9</c:v>
                </c:pt>
                <c:pt idx="34">
                  <c:v>10.86</c:v>
                </c:pt>
                <c:pt idx="35">
                  <c:v>9.28</c:v>
                </c:pt>
                <c:pt idx="36">
                  <c:v>15.61</c:v>
                </c:pt>
                <c:pt idx="37">
                  <c:v>15.72</c:v>
                </c:pt>
                <c:pt idx="38">
                  <c:v>11.88</c:v>
                </c:pt>
                <c:pt idx="39">
                  <c:v>12.67</c:v>
                </c:pt>
                <c:pt idx="40">
                  <c:v>12.1</c:v>
                </c:pt>
                <c:pt idx="41">
                  <c:v>11.54</c:v>
                </c:pt>
                <c:pt idx="42">
                  <c:v>6.56</c:v>
                </c:pt>
                <c:pt idx="43">
                  <c:v>7.01</c:v>
                </c:pt>
                <c:pt idx="44">
                  <c:v>3.39</c:v>
                </c:pt>
                <c:pt idx="45">
                  <c:v>0.68</c:v>
                </c:pt>
                <c:pt idx="46">
                  <c:v>4.64</c:v>
                </c:pt>
                <c:pt idx="47">
                  <c:v>6.11</c:v>
                </c:pt>
                <c:pt idx="48">
                  <c:v>4.52</c:v>
                </c:pt>
                <c:pt idx="49">
                  <c:v>3.28</c:v>
                </c:pt>
                <c:pt idx="50">
                  <c:v>2.26</c:v>
                </c:pt>
                <c:pt idx="51">
                  <c:v>2.83</c:v>
                </c:pt>
                <c:pt idx="52">
                  <c:v>1.92</c:v>
                </c:pt>
                <c:pt idx="53">
                  <c:v>-0.45</c:v>
                </c:pt>
                <c:pt idx="54">
                  <c:v>-0.34</c:v>
                </c:pt>
                <c:pt idx="55">
                  <c:v>-0.9</c:v>
                </c:pt>
                <c:pt idx="56">
                  <c:v>0.9</c:v>
                </c:pt>
                <c:pt idx="57">
                  <c:v>-1.58</c:v>
                </c:pt>
                <c:pt idx="58">
                  <c:v>-1.24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KT&amp;G</c:v>
                </c:pt>
              </c:strCache>
            </c:strRef>
          </c:tx>
          <c:spPr>
            <a:solidFill>
              <a:srgbClr val="E0BE62"/>
            </a:solidFill>
            <a:ln w="25400" cap="flat">
              <a:solidFill>
                <a:srgbClr val="E0BE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BE62"/>
              </a:solidFill>
              <a:ln w="9525" cap="flat">
                <a:solidFill>
                  <a:srgbClr val="E0BE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Sheet1!$A$2:$A$60</c:f>
              <c:multiLvlStrCache>
                <c:ptCount val="59"/>
                <c:lvl>
                  <c:pt idx="0">
                    <c:v>06/30</c:v>
                  </c:pt>
                  <c:pt idx="1">
                    <c:v>07/01</c:v>
                  </c:pt>
                  <c:pt idx="2">
                    <c:v>07/02</c:v>
                  </c:pt>
                  <c:pt idx="3">
                    <c:v>07/03</c:v>
                  </c:pt>
                  <c:pt idx="4">
                    <c:v>07/06</c:v>
                  </c:pt>
                  <c:pt idx="5">
                    <c:v>07/07</c:v>
                  </c:pt>
                  <c:pt idx="6">
                    <c:v>07/08</c:v>
                  </c:pt>
                  <c:pt idx="7">
                    <c:v>07/09</c:v>
                  </c:pt>
                  <c:pt idx="8">
                    <c:v>07/10</c:v>
                  </c:pt>
                  <c:pt idx="9">
                    <c:v>07/13</c:v>
                  </c:pt>
                  <c:pt idx="10">
                    <c:v>07/14</c:v>
                  </c:pt>
                  <c:pt idx="11">
                    <c:v>07/15</c:v>
                  </c:pt>
                  <c:pt idx="12">
                    <c:v>07/16</c:v>
                  </c:pt>
                  <c:pt idx="13">
                    <c:v>07/20</c:v>
                  </c:pt>
                  <c:pt idx="14">
                    <c:v>07/21</c:v>
                  </c:pt>
                  <c:pt idx="15">
                    <c:v>07/22</c:v>
                  </c:pt>
                  <c:pt idx="16">
                    <c:v>07/23</c:v>
                  </c:pt>
                  <c:pt idx="17">
                    <c:v>07/24</c:v>
                  </c:pt>
                  <c:pt idx="18">
                    <c:v>07/27</c:v>
                  </c:pt>
                  <c:pt idx="19">
                    <c:v>07/28</c:v>
                  </c:pt>
                  <c:pt idx="20">
                    <c:v>07/29</c:v>
                  </c:pt>
                  <c:pt idx="21">
                    <c:v>07/30</c:v>
                  </c:pt>
                  <c:pt idx="22">
                    <c:v>07/31</c:v>
                  </c:pt>
                  <c:pt idx="23">
                    <c:v>08/03</c:v>
                  </c:pt>
                  <c:pt idx="24">
                    <c:v>08/04</c:v>
                  </c:pt>
                  <c:pt idx="25">
                    <c:v>08/05</c:v>
                  </c:pt>
                  <c:pt idx="26">
                    <c:v>08/06</c:v>
                  </c:pt>
                  <c:pt idx="27">
                    <c:v>08/07</c:v>
                  </c:pt>
                  <c:pt idx="28">
                    <c:v>08/10</c:v>
                  </c:pt>
                  <c:pt idx="29">
                    <c:v>08/11</c:v>
                  </c:pt>
                  <c:pt idx="30">
                    <c:v>08/12</c:v>
                  </c:pt>
                  <c:pt idx="31">
                    <c:v>08/13</c:v>
                  </c:pt>
                  <c:pt idx="32">
                    <c:v>08/14</c:v>
                  </c:pt>
                  <c:pt idx="33">
                    <c:v>08/18</c:v>
                  </c:pt>
                  <c:pt idx="34">
                    <c:v>08/19</c:v>
                  </c:pt>
                  <c:pt idx="35">
                    <c:v>08/20</c:v>
                  </c:pt>
                  <c:pt idx="36">
                    <c:v>08/21</c:v>
                  </c:pt>
                  <c:pt idx="37">
                    <c:v>08/24</c:v>
                  </c:pt>
                  <c:pt idx="38">
                    <c:v>08/25</c:v>
                  </c:pt>
                  <c:pt idx="39">
                    <c:v>08/26</c:v>
                  </c:pt>
                  <c:pt idx="40">
                    <c:v>08/27</c:v>
                  </c:pt>
                  <c:pt idx="41">
                    <c:v>08/28</c:v>
                  </c:pt>
                  <c:pt idx="42">
                    <c:v>08/31</c:v>
                  </c:pt>
                  <c:pt idx="43">
                    <c:v>09/01</c:v>
                  </c:pt>
                  <c:pt idx="44">
                    <c:v>09/02</c:v>
                  </c:pt>
                  <c:pt idx="45">
                    <c:v>09/03</c:v>
                  </c:pt>
                  <c:pt idx="46">
                    <c:v>09/04</c:v>
                  </c:pt>
                  <c:pt idx="47">
                    <c:v>09/07</c:v>
                  </c:pt>
                  <c:pt idx="48">
                    <c:v>09/08</c:v>
                  </c:pt>
                  <c:pt idx="49">
                    <c:v>09/09</c:v>
                  </c:pt>
                  <c:pt idx="50">
                    <c:v>09/10</c:v>
                  </c:pt>
                  <c:pt idx="51">
                    <c:v>09/11</c:v>
                  </c:pt>
                  <c:pt idx="52">
                    <c:v>09/14</c:v>
                  </c:pt>
                  <c:pt idx="53">
                    <c:v>09/15</c:v>
                  </c:pt>
                  <c:pt idx="54">
                    <c:v>09/16</c:v>
                  </c:pt>
                  <c:pt idx="55">
                    <c:v>09/17</c:v>
                  </c:pt>
                  <c:pt idx="56">
                    <c:v>09/18</c:v>
                  </c:pt>
                  <c:pt idx="57">
                    <c:v>09/21</c:v>
                  </c:pt>
                  <c:pt idx="58">
                    <c:v>09/22</c:v>
                  </c:pt>
                </c:lvl>
              </c:multiLvlStrCache>
            </c:multiLvlStrRef>
          </c:cat>
          <c:val>
            <c:numRef>
              <c:f>Sheet1!$E$2:$E$60</c:f>
              <c:numCache>
                <c:formatCode>General</c:formatCode>
                <c:ptCount val="59"/>
                <c:pt idx="0">
                  <c:v>0</c:v>
                </c:pt>
                <c:pt idx="1">
                  <c:v>-1.53</c:v>
                </c:pt>
                <c:pt idx="2">
                  <c:v>1.94</c:v>
                </c:pt>
                <c:pt idx="3">
                  <c:v>3.18</c:v>
                </c:pt>
                <c:pt idx="4">
                  <c:v>1.71</c:v>
                </c:pt>
                <c:pt idx="5">
                  <c:v>8.07</c:v>
                </c:pt>
                <c:pt idx="6">
                  <c:v>8.6</c:v>
                </c:pt>
                <c:pt idx="7">
                  <c:v>3.95</c:v>
                </c:pt>
                <c:pt idx="8">
                  <c:v>2.24</c:v>
                </c:pt>
                <c:pt idx="9">
                  <c:v>2.71</c:v>
                </c:pt>
                <c:pt idx="10">
                  <c:v>0.77</c:v>
                </c:pt>
                <c:pt idx="11">
                  <c:v>1.65</c:v>
                </c:pt>
                <c:pt idx="12">
                  <c:v>6.01</c:v>
                </c:pt>
                <c:pt idx="13">
                  <c:v>5.72</c:v>
                </c:pt>
                <c:pt idx="14">
                  <c:v>5.01</c:v>
                </c:pt>
                <c:pt idx="15">
                  <c:v>4.07</c:v>
                </c:pt>
                <c:pt idx="16">
                  <c:v>5.83</c:v>
                </c:pt>
                <c:pt idx="17">
                  <c:v>7.6</c:v>
                </c:pt>
                <c:pt idx="18">
                  <c:v>7.6</c:v>
                </c:pt>
                <c:pt idx="19">
                  <c:v>7.07</c:v>
                </c:pt>
                <c:pt idx="20">
                  <c:v>7.6</c:v>
                </c:pt>
                <c:pt idx="21">
                  <c:v>9.49</c:v>
                </c:pt>
                <c:pt idx="22">
                  <c:v>5.54</c:v>
                </c:pt>
                <c:pt idx="23">
                  <c:v>3.48</c:v>
                </c:pt>
                <c:pt idx="24">
                  <c:v>3.48</c:v>
                </c:pt>
                <c:pt idx="25">
                  <c:v>3.71</c:v>
                </c:pt>
                <c:pt idx="26">
                  <c:v>7.66</c:v>
                </c:pt>
                <c:pt idx="27">
                  <c:v>11.26</c:v>
                </c:pt>
                <c:pt idx="28">
                  <c:v>9.43</c:v>
                </c:pt>
                <c:pt idx="29">
                  <c:v>6.01</c:v>
                </c:pt>
                <c:pt idx="30">
                  <c:v>4.54</c:v>
                </c:pt>
                <c:pt idx="31">
                  <c:v>2.42</c:v>
                </c:pt>
                <c:pt idx="32">
                  <c:v>3.71</c:v>
                </c:pt>
                <c:pt idx="33">
                  <c:v>4.07</c:v>
                </c:pt>
                <c:pt idx="34">
                  <c:v>3.42</c:v>
                </c:pt>
                <c:pt idx="35">
                  <c:v>1.3</c:v>
                </c:pt>
                <c:pt idx="36">
                  <c:v>1.53</c:v>
                </c:pt>
                <c:pt idx="37">
                  <c:v>2.06</c:v>
                </c:pt>
                <c:pt idx="38">
                  <c:v>3.36</c:v>
                </c:pt>
                <c:pt idx="39">
                  <c:v>2.95</c:v>
                </c:pt>
                <c:pt idx="40">
                  <c:v>2.83</c:v>
                </c:pt>
                <c:pt idx="41">
                  <c:v>3.89</c:v>
                </c:pt>
                <c:pt idx="42">
                  <c:v>4.95</c:v>
                </c:pt>
                <c:pt idx="43">
                  <c:v>3.06</c:v>
                </c:pt>
                <c:pt idx="44">
                  <c:v>2.77</c:v>
                </c:pt>
                <c:pt idx="45">
                  <c:v>2.95</c:v>
                </c:pt>
                <c:pt idx="46">
                  <c:v>1.65</c:v>
                </c:pt>
                <c:pt idx="47">
                  <c:v>0.35</c:v>
                </c:pt>
                <c:pt idx="48">
                  <c:v>0.06</c:v>
                </c:pt>
                <c:pt idx="49">
                  <c:v>-0.77</c:v>
                </c:pt>
                <c:pt idx="50">
                  <c:v>-0.35</c:v>
                </c:pt>
                <c:pt idx="51">
                  <c:v>1.24</c:v>
                </c:pt>
                <c:pt idx="52">
                  <c:v>2</c:v>
                </c:pt>
                <c:pt idx="53">
                  <c:v>0.65</c:v>
                </c:pt>
                <c:pt idx="54">
                  <c:v>1.36</c:v>
                </c:pt>
                <c:pt idx="55">
                  <c:v>2.42</c:v>
                </c:pt>
                <c:pt idx="56">
                  <c:v>1.36</c:v>
                </c:pt>
                <c:pt idx="57">
                  <c:v>2.42</c:v>
                </c:pt>
                <c:pt idx="58">
                  <c:v>4.48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코스피(시총)</c:v>
                </c:pt>
              </c:strCache>
            </c:strRef>
          </c:tx>
          <c:spPr>
            <a:solidFill>
              <a:srgbClr val="8A9396"/>
            </a:solidFill>
            <a:ln w="25400" cap="flat">
              <a:solidFill>
                <a:srgbClr val="8A93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396"/>
              </a:solidFill>
              <a:ln w="9525" cap="flat">
                <a:solidFill>
                  <a:srgbClr val="8A93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Sheet1!$A$2:$A$60</c:f>
              <c:multiLvlStrCache>
                <c:ptCount val="59"/>
                <c:lvl>
                  <c:pt idx="0">
                    <c:v>06/30</c:v>
                  </c:pt>
                  <c:pt idx="1">
                    <c:v>07/01</c:v>
                  </c:pt>
                  <c:pt idx="2">
                    <c:v>07/02</c:v>
                  </c:pt>
                  <c:pt idx="3">
                    <c:v>07/03</c:v>
                  </c:pt>
                  <c:pt idx="4">
                    <c:v>07/06</c:v>
                  </c:pt>
                  <c:pt idx="5">
                    <c:v>07/07</c:v>
                  </c:pt>
                  <c:pt idx="6">
                    <c:v>07/08</c:v>
                  </c:pt>
                  <c:pt idx="7">
                    <c:v>07/09</c:v>
                  </c:pt>
                  <c:pt idx="8">
                    <c:v>07/10</c:v>
                  </c:pt>
                  <c:pt idx="9">
                    <c:v>07/13</c:v>
                  </c:pt>
                  <c:pt idx="10">
                    <c:v>07/14</c:v>
                  </c:pt>
                  <c:pt idx="11">
                    <c:v>07/15</c:v>
                  </c:pt>
                  <c:pt idx="12">
                    <c:v>07/16</c:v>
                  </c:pt>
                  <c:pt idx="13">
                    <c:v>07/20</c:v>
                  </c:pt>
                  <c:pt idx="14">
                    <c:v>07/21</c:v>
                  </c:pt>
                  <c:pt idx="15">
                    <c:v>07/22</c:v>
                  </c:pt>
                  <c:pt idx="16">
                    <c:v>07/23</c:v>
                  </c:pt>
                  <c:pt idx="17">
                    <c:v>07/24</c:v>
                  </c:pt>
                  <c:pt idx="18">
                    <c:v>07/27</c:v>
                  </c:pt>
                  <c:pt idx="19">
                    <c:v>07/28</c:v>
                  </c:pt>
                  <c:pt idx="20">
                    <c:v>07/29</c:v>
                  </c:pt>
                  <c:pt idx="21">
                    <c:v>07/30</c:v>
                  </c:pt>
                  <c:pt idx="22">
                    <c:v>07/31</c:v>
                  </c:pt>
                  <c:pt idx="23">
                    <c:v>08/03</c:v>
                  </c:pt>
                  <c:pt idx="24">
                    <c:v>08/04</c:v>
                  </c:pt>
                  <c:pt idx="25">
                    <c:v>08/05</c:v>
                  </c:pt>
                  <c:pt idx="26">
                    <c:v>08/06</c:v>
                  </c:pt>
                  <c:pt idx="27">
                    <c:v>08/07</c:v>
                  </c:pt>
                  <c:pt idx="28">
                    <c:v>08/10</c:v>
                  </c:pt>
                  <c:pt idx="29">
                    <c:v>08/11</c:v>
                  </c:pt>
                  <c:pt idx="30">
                    <c:v>08/12</c:v>
                  </c:pt>
                  <c:pt idx="31">
                    <c:v>08/13</c:v>
                  </c:pt>
                  <c:pt idx="32">
                    <c:v>08/14</c:v>
                  </c:pt>
                  <c:pt idx="33">
                    <c:v>08/18</c:v>
                  </c:pt>
                  <c:pt idx="34">
                    <c:v>08/19</c:v>
                  </c:pt>
                  <c:pt idx="35">
                    <c:v>08/20</c:v>
                  </c:pt>
                  <c:pt idx="36">
                    <c:v>08/21</c:v>
                  </c:pt>
                  <c:pt idx="37">
                    <c:v>08/24</c:v>
                  </c:pt>
                  <c:pt idx="38">
                    <c:v>08/25</c:v>
                  </c:pt>
                  <c:pt idx="39">
                    <c:v>08/26</c:v>
                  </c:pt>
                  <c:pt idx="40">
                    <c:v>08/27</c:v>
                  </c:pt>
                  <c:pt idx="41">
                    <c:v>08/28</c:v>
                  </c:pt>
                  <c:pt idx="42">
                    <c:v>08/31</c:v>
                  </c:pt>
                  <c:pt idx="43">
                    <c:v>09/01</c:v>
                  </c:pt>
                  <c:pt idx="44">
                    <c:v>09/02</c:v>
                  </c:pt>
                  <c:pt idx="45">
                    <c:v>09/03</c:v>
                  </c:pt>
                  <c:pt idx="46">
                    <c:v>09/04</c:v>
                  </c:pt>
                  <c:pt idx="47">
                    <c:v>09/07</c:v>
                  </c:pt>
                  <c:pt idx="48">
                    <c:v>09/08</c:v>
                  </c:pt>
                  <c:pt idx="49">
                    <c:v>09/09</c:v>
                  </c:pt>
                  <c:pt idx="50">
                    <c:v>09/10</c:v>
                  </c:pt>
                  <c:pt idx="51">
                    <c:v>09/11</c:v>
                  </c:pt>
                  <c:pt idx="52">
                    <c:v>09/14</c:v>
                  </c:pt>
                  <c:pt idx="53">
                    <c:v>09/15</c:v>
                  </c:pt>
                  <c:pt idx="54">
                    <c:v>09/16</c:v>
                  </c:pt>
                  <c:pt idx="55">
                    <c:v>09/17</c:v>
                  </c:pt>
                  <c:pt idx="56">
                    <c:v>09/18</c:v>
                  </c:pt>
                  <c:pt idx="57">
                    <c:v>09/21</c:v>
                  </c:pt>
                  <c:pt idx="58">
                    <c:v>09/22</c:v>
                  </c:pt>
                </c:lvl>
              </c:multiLvlStrCache>
            </c:multiLvlStrRef>
          </c:cat>
          <c:val>
            <c:numRef>
              <c:f>Sheet1!$F$2:$F$60</c:f>
              <c:numCache>
                <c:formatCode>General</c:formatCode>
                <c:ptCount val="59"/>
                <c:pt idx="0">
                  <c:v>0</c:v>
                </c:pt>
                <c:pt idx="1">
                  <c:v>-2.08</c:v>
                </c:pt>
                <c:pt idx="2">
                  <c:v>-9.79</c:v>
                </c:pt>
                <c:pt idx="3">
                  <c:v>-4.51</c:v>
                </c:pt>
                <c:pt idx="4">
                  <c:v>-4.88</c:v>
                </c:pt>
                <c:pt idx="5">
                  <c:v>-9.57</c:v>
                </c:pt>
                <c:pt idx="6">
                  <c:v>-14.41</c:v>
                </c:pt>
                <c:pt idx="7">
                  <c:v>-13.92</c:v>
                </c:pt>
                <c:pt idx="8">
                  <c:v>-11.7</c:v>
                </c:pt>
                <c:pt idx="9">
                  <c:v>-19.58</c:v>
                </c:pt>
                <c:pt idx="10">
                  <c:v>-18.94</c:v>
                </c:pt>
                <c:pt idx="11">
                  <c:v>-13.98</c:v>
                </c:pt>
                <c:pt idx="12">
                  <c:v>-19.52</c:v>
                </c:pt>
                <c:pt idx="13">
                  <c:v>-23.06</c:v>
                </c:pt>
                <c:pt idx="14">
                  <c:v>-20.27</c:v>
                </c:pt>
                <c:pt idx="15">
                  <c:v>-19.65</c:v>
                </c:pt>
                <c:pt idx="16">
                  <c:v>-16.09</c:v>
                </c:pt>
                <c:pt idx="17">
                  <c:v>-20.93</c:v>
                </c:pt>
                <c:pt idx="18">
                  <c:v>-20.14</c:v>
                </c:pt>
                <c:pt idx="19">
                  <c:v>-28.81</c:v>
                </c:pt>
                <c:pt idx="20">
                  <c:v>-32.62</c:v>
                </c:pt>
                <c:pt idx="21">
                  <c:v>-33.45</c:v>
                </c:pt>
                <c:pt idx="22">
                  <c:v>-21.42</c:v>
                </c:pt>
                <c:pt idx="23">
                  <c:v>-25.47</c:v>
                </c:pt>
                <c:pt idx="24">
                  <c:v>-24.31</c:v>
                </c:pt>
                <c:pt idx="25">
                  <c:v>-21.46</c:v>
                </c:pt>
                <c:pt idx="26">
                  <c:v>-25.08</c:v>
                </c:pt>
                <c:pt idx="27">
                  <c:v>-25.54</c:v>
                </c:pt>
                <c:pt idx="28">
                  <c:v>-25.04</c:v>
                </c:pt>
                <c:pt idx="29">
                  <c:v>-24.4</c:v>
                </c:pt>
                <c:pt idx="30">
                  <c:v>-21.63</c:v>
                </c:pt>
                <c:pt idx="31">
                  <c:v>-18.91</c:v>
                </c:pt>
                <c:pt idx="32">
                  <c:v>-16.91</c:v>
                </c:pt>
                <c:pt idx="33">
                  <c:v>-18.25</c:v>
                </c:pt>
                <c:pt idx="34">
                  <c:v>-23.03</c:v>
                </c:pt>
                <c:pt idx="35">
                  <c:v>-18.43</c:v>
                </c:pt>
                <c:pt idx="36">
                  <c:v>-17.56</c:v>
                </c:pt>
                <c:pt idx="37">
                  <c:v>-20.26</c:v>
                </c:pt>
                <c:pt idx="38">
                  <c:v>-19.66</c:v>
                </c:pt>
                <c:pt idx="39">
                  <c:v>-18.88</c:v>
                </c:pt>
                <c:pt idx="40">
                  <c:v>-17.71</c:v>
                </c:pt>
                <c:pt idx="41">
                  <c:v>-19.24</c:v>
                </c:pt>
                <c:pt idx="42">
                  <c:v>-18.9</c:v>
                </c:pt>
                <c:pt idx="43">
                  <c:v>-18.67</c:v>
                </c:pt>
                <c:pt idx="44">
                  <c:v>-21.88</c:v>
                </c:pt>
                <c:pt idx="45">
                  <c:v>-21.7</c:v>
                </c:pt>
                <c:pt idx="46">
                  <c:v>-20.37</c:v>
                </c:pt>
                <c:pt idx="47">
                  <c:v>-16.73</c:v>
                </c:pt>
                <c:pt idx="48">
                  <c:v>-17.22</c:v>
                </c:pt>
                <c:pt idx="49">
                  <c:v>-16.11</c:v>
                </c:pt>
                <c:pt idx="50">
                  <c:v>-16.26</c:v>
                </c:pt>
                <c:pt idx="51">
                  <c:v>-17.8</c:v>
                </c:pt>
                <c:pt idx="52">
                  <c:v>-20.53</c:v>
                </c:pt>
                <c:pt idx="53">
                  <c:v>-21.14</c:v>
                </c:pt>
                <c:pt idx="54">
                  <c:v>-20.02</c:v>
                </c:pt>
                <c:pt idx="55">
                  <c:v>-20.06</c:v>
                </c:pt>
                <c:pt idx="56">
                  <c:v>-17.97</c:v>
                </c:pt>
                <c:pt idx="57">
                  <c:v>-16.52</c:v>
                </c:pt>
                <c:pt idx="58">
                  <c:v>-16.37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2D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C2B2D"/>
                </a:solidFill>
                <a:latin typeface="Malgun Gothic"/>
              </a:rPr>
              <a:t>종목별 수익률 기여도 (%p)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기여도</c:v>
                </c:pt>
              </c:strCache>
            </c:strRef>
          </c:tx>
          <c:spPr>
            <a:solidFill>
              <a:srgbClr val="C9971C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SK하이닉스</c:v>
                  </c:pt>
                  <c:pt idx="1">
                    <c:v>삼성전자</c:v>
                  </c:pt>
                  <c:pt idx="2">
                    <c:v>SK텔레콤</c:v>
                  </c:pt>
                  <c:pt idx="3">
                    <c:v>KT&amp;G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-7.64</c:v>
                </c:pt>
                <c:pt idx="1">
                  <c:v>-4.31</c:v>
                </c:pt>
                <c:pt idx="2">
                  <c:v>-0.31</c:v>
                </c:pt>
                <c:pt idx="3">
                  <c:v>1.12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2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최종보고서 제목과 편입 4종목, 작성자 정보.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제10회 전국대학생 가치투자대회 · 최종보고서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흔들리는 시장,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2028년에도 현금을 뽑는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4개의 구조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· SK하이닉스 · KT&amp;G · SK텔레콤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인천대학교 생명공학전공  |  202302552  |  정현수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03920" y="1188720"/>
            <a:ext cx="2377440" cy="301752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4480560"/>
            <a:ext cx="822960" cy="105156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4480560"/>
            <a:ext cx="822960" cy="105156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4480560"/>
            <a:ext cx="822960" cy="1051560"/>
          </a:xfrm>
          <a:prstGeom prst="ellipse">
            <a:avLst/>
          </a:prstGeom>
          <a:solidFill>
            <a:srgbClr val="E3C77A"/>
          </a:solidFill>
          <a:ln w="12700">
            <a:solidFill>
              <a:srgbClr val="E3C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09960" y="4480560"/>
            <a:ext cx="822960" cy="1051560"/>
          </a:xfrm>
          <a:prstGeom prst="ellipse">
            <a:avLst/>
          </a:prstGeom>
          <a:solidFill>
            <a:srgbClr val="E3C77A"/>
          </a:solidFill>
          <a:ln w="12700">
            <a:solidFill>
              <a:srgbClr val="E3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항산항심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흐름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질문에서 시작해 결과로 검증합니다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“2028년에도 이 거위는 황금알을 낳는가?”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956816" cy="3017520"/>
          </a:xfrm>
          <a:prstGeom prst="roundRect">
            <a:avLst>
              <a:gd name="adj" fmla="val 5607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291840"/>
            <a:ext cx="822960" cy="100584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4805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투자철학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9377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5명의 구루에서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질문과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매수·매도 규칙 도출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05456" y="4206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825496" y="3063240"/>
            <a:ext cx="1956816" cy="3017520"/>
          </a:xfrm>
          <a:prstGeom prst="roundRect">
            <a:avLst>
              <a:gd name="adj" fmla="val 5607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3291840"/>
            <a:ext cx="822960" cy="100584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92424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44805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선정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962656" y="49377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듀레이션 거위 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배당 항심 거위 2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82312" y="4206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102352" y="3063240"/>
            <a:ext cx="1956816" cy="3017520"/>
          </a:xfrm>
          <a:prstGeom prst="roundRect">
            <a:avLst>
              <a:gd name="adj" fmla="val 5607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291840"/>
            <a:ext cx="822960" cy="100584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44805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기업·가치 분석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239512" y="49377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SOTP · DCF · DDM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핵심지표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4206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379208" y="3063240"/>
            <a:ext cx="1956816" cy="3017520"/>
          </a:xfrm>
          <a:prstGeom prst="roundRect">
            <a:avLst>
              <a:gd name="adj" fmla="val 5607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6136" y="3291840"/>
            <a:ext cx="822960" cy="10058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46136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516368" y="44805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운용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49377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6/30 편입 → 9/22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수익률·기여도·매매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336024" y="4206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9656064" y="3063240"/>
            <a:ext cx="1956816" cy="3017520"/>
          </a:xfrm>
          <a:prstGeom prst="roundRect">
            <a:avLst>
              <a:gd name="adj" fmla="val 5607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22992" y="3291840"/>
            <a:ext cx="822960" cy="10058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22992" y="32918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793224" y="448056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검증·복기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793224" y="493776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vs 결과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오류와 새 원칙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투자철학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명의 구루에게서 얻은 하나의 질문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02920" cy="640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워런 버핏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해자는 성벽이 아니라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‘매일 현금이 들어오는 구조’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31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Never lose money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Never lose cash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6916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920240"/>
            <a:ext cx="502920" cy="640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피터 린치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속 투자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지루한 업종일수록 경쟁자가 없고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가격을 올려도 팔린다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931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애널리스트 보고서보다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장바구니를 먼저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920240"/>
            <a:ext cx="502920" cy="640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최준철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한국형 배당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ROE가 높고, 그 ROE를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배당으로 돌려주는 기업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931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한국에서 배당은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도덕이 아니라 생존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1691640"/>
            <a:ext cx="2560320" cy="3246120"/>
          </a:xfrm>
          <a:prstGeom prst="roundRect">
            <a:avLst>
              <a:gd name="adj" fmla="val 428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0" y="1920240"/>
            <a:ext cx="502920" cy="64008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오연석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212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듀레이션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기업본질·시장사이클·정책지배구조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3축으로 듀레이션을 판단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3931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이야기가 그럴듯할수록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더 의심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212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원칙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5212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주가를 예측하지 않는다. 이 사업이 2028년에도 현금을 뽑아내는지를 본다.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능력이 변하지 않으면, 가격은 언젠가 따라온다.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투자철학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권의 책, 다섯 단어, 네 개의 종목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55648"/>
            <a:ext cx="1554480" cy="603504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듀레이션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행복부자학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“가격이 아니라 듀레이션을 보라.”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PER 대신 5년 LTA, SK하이닉스 EPS 대신 FCF 전환율 82%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06040"/>
            <a:ext cx="1554480" cy="60350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60604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25420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워런 버핏 바이블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5420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“내가 없어도 돌아가는 기업을 사라.”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420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SK텔레콤: 내가 자는 동안에도 가입자가 요금을 낸다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92424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456432"/>
            <a:ext cx="1554480" cy="60350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45643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3924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전설로 떠나는 월가의 영웅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39242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“지루한 업종에서 대박이 난다.”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9242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KT&amp;G: 가장 지루한 사업이 곧 해자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42816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306824"/>
            <a:ext cx="1554480" cy="60350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30682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424281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한국형 가치투자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2428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“한국에서 배당은 도덕이 아니라 생존이다.”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2428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SK텔레콤: 1994년 1억 → 연 배당 6천만 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093208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5157216"/>
            <a:ext cx="1554480" cy="603504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1572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기술주권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514600" y="50932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기술공화국 선언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5093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“결정적 기술을 누가 통제하는가.”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509320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삼성전자를 ‘사이클주’가 아닌 ‘AI 인프라 주권주’로 재정의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점검 도구: 『생각에 관한 생각』의 ‘타당성 착각’, 『투자에 대한 생각』의 시장 사이클 → “소음을 끄고, 구조를 보라.”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투자철학 → 매수·매도 판단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철학을 사고파는 규칙으로 바꿨습니다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규칙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457200" cy="56692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688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 구조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980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잠자는 동안에도 현금이 들어오는 사업인가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457200" cy="56692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39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확인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 대신 FCF·배당성향·점유율로 검증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46320"/>
            <a:ext cx="457200" cy="56692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463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28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종류의 거위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17550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성장(듀레이션)과 배당(항심)을 함께 보유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 규칙: “산 이유가 변했을 때만 판다”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240280"/>
          <a:ext cx="6492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 이유 (핵심지표)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 신호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삼성전자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매출 비중 15%→38%, 5년 LTA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비중 상승 추세 꺾임, LTA 이탈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SK하이닉스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점유율 62%, FCF 전환율 82%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점유율 상실, 이익의 현금 전환 붕괴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KT&amp;G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배당성향 60%, FCF 커버리지 1.5배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배당성향 60% 하회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SK텔레콤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ARPU 32,000원대, 배당수익률 6%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ARPU 하락 전환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120640" y="5349240"/>
            <a:ext cx="6492240" cy="822960"/>
          </a:xfrm>
          <a:prstGeom prst="roundRect">
            <a:avLst>
              <a:gd name="adj" fmla="val 13333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5349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하락 자체는 매도 신호가 아니다. 지표가 유지되면 하락은 소음이고 매수 기회다.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종목 선정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종류의 거위를 함께 담았습니다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640080" cy="80467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듀레이션의 거위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이익이 커지는 구조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세계 최초 양산 + 5년 LTA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사이클을 넘어선 구조 변화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점유율 62%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 21조 → 40조+ 전망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920240"/>
            <a:ext cx="640080" cy="804672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항산항심 배당 거위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흔들리지 않는 현금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12080" y="306324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KT&amp;G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경기와 무관한 담배 사업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배당성향 60%, 배당수익률 6%대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212080" y="457200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산업 40년 1등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1994년부터 증명된 배당</a:t>
            </a:r>
            <a:endParaRPr lang="en-US" sz="12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9326880" y="1691640"/>
          <a:ext cx="23774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932688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균등 비중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25%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326880" y="44348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거위가 흔들릴 때 배당 거위가 버티게 하여, 단기 노이즈에 팔지 않고 긴 여정을 가기 위한 구성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종목 선정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핵심 투자 아이디어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0" cy="640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기술주권을 가진 거위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양산 = 사이클을 넘어선 구조 변화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장기공급계약은 4년짜리 메모리 사이클을 뛰어넘는다. 고객이 가격과 물량을 미리 약속한 것이 해자다.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65960"/>
            <a:ext cx="502920" cy="640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이익이 폭발하는 거위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 21조 → 40조+, HBM 62% 독점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-12% 급락 후 “반도체 끝났다”는 이야기가 그럴듯할수록 숫자를 본다. 공급과잉 리스크는 직시하되 산 이유는 변하지 않았다.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434840"/>
            <a:ext cx="502920" cy="64008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0876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KT&amp;G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82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경기와 무관한 항산 거위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5%+ 배당, 흔들리지 않는 현금흐름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77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담배는 매월 사는 사업이고 가격결정권이 있다. 주가가 횡보해도 매 분기 황금알이 들어온다.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1605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434840"/>
            <a:ext cx="502920" cy="64008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78040" y="4389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782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1994년부터 증명된 항심 거위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6% 배당 + 규제 속 1등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577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1994년 1억 투자가 연 배당 6천만 원이 됐다. 여기에 AI 데이터센터라는 다음 성장 서사가 붙었다.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기업 및 가치분석 · 삼성전자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삼성전자: 사이클 기업에서 AI 인프라 기업으로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내재가치  </a:t>
            </a:r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기술(HBM)을 통제하는 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" cy="47548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내 입지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D램·낸드·파운드리·HBM을 모두 가진 유일한 종합반도체 기업. 세계 최초 HBM4 양산 성공.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84048" cy="47548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86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변화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장기공급계약(LTA) 시작. 현물 중심 4년 사이클에서 가격·물량을 미리 약속받는 구조로.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84048" cy="47548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206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74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 창출력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1분기 영업이익 +756%. AI 서버당 HBM 탑재량 80GB → 1TB로 이익 레벨 상향.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6537960" y="1783080"/>
          <a:ext cx="4937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400800" y="49377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중요하게 본 지표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매출 비중 15% → 38%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5806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→ 2026년 1분기 · 50% 돌파 시점이 재평가의 시작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수치: DART 확정치(2024)와 FnGuide 컨센서스, 국내 증권사 리서치(2025~2026)를 참고해 재구성한 추정치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기업 및 가치분석 · SK하이닉스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SK하이닉스: HBM 독점이 만드는 현금흐름 기계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DCEBEA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내재가치  </a:t>
            </a:r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점유율로 뽑아내는 구조적 현금창출력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" cy="47548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압도적 입지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시장 점유율 62%, 엔비디아 HBM3E 공급의 90% 이상 담당.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84048" cy="47548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86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현금흐름의 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마진 60%+, 장기계약·선금으로 재고 부담이 낮아 이익의 80% 이상이 현금으로 전환.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84048" cy="475488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206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74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주주환원 변화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 50% 환원 정책(2022), 2025년부터 중간배당·자사주 매입 시작.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6537960" y="1783080"/>
          <a:ext cx="4937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400800" y="49377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중요하게 본 지표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 전환율 68% → 82%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5806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→ 2026년 · PER 9.6배보다 FCF 수익률 12%를 봄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수치: DART 확정치(2024)와 FnGuide 컨센서스, 국내 증권사 리서치(2025~2026)를 참고해 재구성한 추정치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기업 및 가치분석 · KT&amp;G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KT&amp;G: 경기와 무관하게 현금을 뽑는 항산 자산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내재가치  </a:t>
            </a:r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성장이 아니라 ‘흔들리지 않음’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내 입지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담배 점유율 64%, 규제 산업 1등. 해외 전자담배는 인도네시아·동유럽에서 두 자릿수 성장.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8404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86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현금흐름 안정성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설비투자가 적고 운전자본 변동이 거의 없어 경기침체기에도 매출이 줄지 않음.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8404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206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74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지배구조 리스크를 넘은 배당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자사주 논란 이후에도 배당성향 60% 유지. 배당정책은 오히려 예측 가능해짐.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6537960" y="1783080"/>
          <a:ext cx="4937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400800" y="49377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중요하게 본 지표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배당금 ÷ FCF 55~62%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5806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5년 · 배당성향 60% 하회 시 산 이유가 변한 것으로 판단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수치: DART 확정치(2024)와 FnGuide 컨센서스, 국내 증권사 리서치(2025~2026)를 참고해 재구성한 추정치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기업 및 가치분석 · SK텔레콤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SK텔레콤: 1994년부터 증명된 배당, 규제 속 1등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내재가치  </a:t>
            </a:r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 증명된 지속성 + AI 인프라 옵션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내 입지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통신시장 점유율 40%, 40년 1등. 5G 가입자 1,500만 명이 매월 현금을 지급.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8404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86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현금흐름의 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배당수익률 6%대. 1994년 1억 원 투자자가 지금 연 6천만 원의 배당을 받음.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8404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206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74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성장축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데이터센터, 구독형 AI 에이전트로 확장. 규제 산업 1등의 고객 기반이 새로운 해자.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6537960" y="1783080"/>
          <a:ext cx="4937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400800" y="493776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중요하게 본 지표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ARPU 32,000원대 유지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5806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8분기 연속 하락 없음 · 본업 현금이 지켜질 때만 신사업이 옵션 가치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수치: DART 확정치(2024)와 FnGuide 컨센서스, 국내 증권사 리서치(2025~2026)를 참고해 재구성한 추정치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기업 및 가치분석 · 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성격에 따라 방법론을 다르게 적용했습니다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645920"/>
                <a:gridCol w="24688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방법론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이유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삼성전자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SOTP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(HBM PSR 5배+, 레거시 PBR 1.5배)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PBR 하방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2028E BPS 145,000원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× PBR 2.2배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성격이 다른 사업의 합이므로 사업별로 나눠 합산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SK하이닉스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 할인모델 (DCF)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EV/EBITDA 6배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FY26~28 FCF 합계 80조원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9%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이익 급증기의 PER은 착시. 현금이 더 정확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997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KT&amp;G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배당할인모델 (DDM)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PBR 0.8배 하방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주당배당 5,500원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요구수익률 8%, 성장률 2%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 = 앞으로 받을 배당의 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997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SK텔레콤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DDM + SOTP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신사업 PSR 3배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주당배당 3,540원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요구수익률 7.5%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본업은 배당이 확실, 신사업은 옵션 가치로 가산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기준: 기업본질 · 시장사이클 · 정책지배구조 3축 — AI 거위는 현금흐름으로, 배당 거위는 배당으로 가치를 잰다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운용 결과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코스피보다 5.2%p 덜 잃었습니다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013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4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-11.1%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수익률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644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-16.4%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시가총액 변화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7274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+5.2%p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초과성과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84632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2026.06.30 종가에 4종목 균등비중(각 25%) 편입 후 보유 기준, 2026.09.22 종가까지. 배당 미포함. 코스피는 유가증권시장 전 종목 시가총액 합계 변화율.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운용 결과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30일 폭락에도 거위를 팔지 않았습니다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691640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1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7/30 저점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2221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시총 -33.5%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-50.1%, 삼성전자 -38.0%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0" y="3200400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 거위의 방어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37307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날 KT&amp;G +9.5%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포트폴리오는 -22.6%에서 멈춤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0" y="4709160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 이후 회복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52395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+39.2%, 삼성전자 +33.6%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+14.7% 회복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운용 결과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손실은 AI 거위에서, 방어는 배당 거위에서 나왔습니다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4846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4846320" cy="640080"/>
          </a:xfrm>
          <a:prstGeom prst="roundRect">
            <a:avLst>
              <a:gd name="adj" fmla="val 17143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77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 2종목이 -11.95%p, 배당 2종목이 +0.81%p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매매 기록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48840"/>
          <a:ext cx="5852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1188720"/>
                <a:gridCol w="29260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근거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06.30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매수 25%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삼성전자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HBM4 양산·LTA 구조 변화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06.30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매수 25%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SK하이닉스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62%, FCF 전환율 82%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06.30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매수 25%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KT&amp;G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배당성향 60%, FCF 커버리지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06.30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매수 25%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SK텔레콤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 6%, ARPU 32,000원대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07.30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종목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코스피 -33% 급락. 핵심지표 변화 없음 → 매도하지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09.22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종목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저점 대비 +14.7% 회복, 산 이유 유지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기여도 = 편입 비중(25%) × 종목 수익률. 6/30 균등비중 매수 후 보유 기준, 배당 미포함.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판단 검증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전 가정과 실제 결과를 비교했습니다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5661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 전 가정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결과 (6/30 → 9/22)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2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삼성전자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HBM4·LTA로 사이클을 넘어선 구조.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단기 하락은 소음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-17.2%, 최대 낙폭 -38.0%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저점 대비 +33.6% 회복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단기 미검증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구조는 3Q 실적으로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SK하이닉스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62% 독점.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하락은 매수 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-30.6%, 최대 낙폭 -50.1%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저점 대비 +39.2% 회복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변동성 과소평가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KT&amp;G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경기와 무관한 항산.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흔들리지 않는다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+4.5%, 최대 낙폭 -10.8%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코스피 급락일에 오히려 상승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SK텔레콤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배당이 마음의 평정을 지켜준다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-1.2%, 최대 낙폭 -21.8%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997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997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방어는 했으나 변동성 존재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포트폴리오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종류의 거위로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여정을 간다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-11.1% (코스피 시총 -16.4%)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낙폭 -22.6% (코스피 -33.5%)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상대적 방어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최대 낙폭 = 2026.06.30 이후 고점 대비 최대 하락률 (종가 기준)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복기 · 가장 큰 판단 오류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구조는 확인했지만, 가격과 비교하지 않았습니다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173736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계획서의 내재가치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편입 시점 가격 (6/30)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괴리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1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삼성전자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목표주가 319,000원 (2028E)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334,000원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-4.5%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SK하이닉스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 할인모델 가치 185조원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1,889조원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시총의 1/10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KT&amp;G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DDM 목표주가 118,000원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169,700원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-30.5%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SK텔레콤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DDM 목표주가 74,000원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8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88,400원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41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-16.3%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54880"/>
            <a:ext cx="6766560" cy="1417320"/>
          </a:xfrm>
          <a:prstGeom prst="roundRect">
            <a:avLst>
              <a:gd name="adj" fmla="val 7742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75488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종목 모두 내가 계산한 가치보다 비싸게 샀다. ‘가격을 보지 않는다’는 원칙이 ‘안전마진을 보지 않는다’로 변질됐다.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169164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틀렸나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468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 착각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834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HBM·LTA 이야기가 그럴듯할수록 숫자를 의심하겠다고 했지만, 이야기에 확신을 더했다.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거위 50% 편중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023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 두 종목이 같은 방향으로 움직여 손실의 대부분(-11.95%p)을 만들었다.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846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 미반영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5212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‘하락은 매수 기회’라 했지만 -50% 낙폭을 견딜 비중과 현금 계획이 없었다.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복기 · 앞으로의 원칙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보는 것은 맞았다. 그러나 구조에도 가격이 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48640" cy="694944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÷ 가격을 먼저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60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전 내재가치와 주가를 반드시 나란히 적는다. 안전마진 20% 이상일 때 매수하고, 부족하면 분할 매수로 기다린다.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65960"/>
            <a:ext cx="548640" cy="694944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96596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가정은 숫자로 기록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560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 이유와 매도 신호를 지표로 남긴다. HBM 비중 50%, FCF 전환율 80%, 배당성향 60%, ARPU 32,000원.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23360"/>
            <a:ext cx="548640" cy="6949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변동성을 계획에 포함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617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거위는 -50% 낙폭을 견딜 수 있는 비중만 담고, 현금 10~20%를 ‘하락은 매수 기회’의 실탄으로 남긴다.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4F5F3"/>
          </a:solidFill>
          <a:ln w="12700">
            <a:solidFill>
              <a:srgbClr val="F4F5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023360"/>
            <a:ext cx="548640" cy="6949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02336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종류의 거위는 유지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4617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 거위가 코스피 급락일에 포트폴리오를 지켰다. 성장과 배당을 함께 담는 구조는 계속 가져간다.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유지할 것: 소음을 끄고 구조를 본다  ·  바꿀 것: 구조를 산 가격까지 검증한다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237744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429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오연석 (2023). 행복부자학. 행복한부자학교 출판부.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최준철 (2018). 한국형 가치투자 (개정판). 부크온.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메리 버핏·데이비드 클라크 (2022). 워런 버핏 바이블 완결판. 흐름출판.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피터 린치·존 로스차일드 (2021). 전설로 떠나는 월가의 영웅 (개정증보판). 국일증권경제연구소.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알렉산더 카프·니컬러스 자미스카 (2024). 기술공화국 선언. 한국경제신문.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대니얼 카너먼 (2018). 생각에 관한 생각 (3판). 김영사.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하워드 막스 (2020). 투자에 대한 생각 (개정판). 비즈니스북스.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· IR · 리서치 · 시세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금융감독원 DART: 삼성전자(005930), SK하이닉스(000660), KT&amp;G(033780), SK텔레콤(017670) 사업보고서·분기보고서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에프앤가이드(FnGuide) 실적 컨센서스, 메리츠·삼성·키움증권 리서치 (2025~2026)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오연석, 행복부자학 네이버 카페 (2026): 삼성전자 시가총액·코스피 비중 분석 / 메리츠 Top Pick SK텔레콤과 통신 3사 배당 분석 / HBM4, 빅테크 Capex, 삼성·하이닉스의 기회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주가·시가총액: 한국거래소(KRX) 일별 시세 (2026.06.30 ~ 2026.09.22)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8968" y="1097280"/>
            <a:ext cx="1280160" cy="164592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흔들리는 시장이 아니라,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흔들리지 않는 나를 만드는 포트폴리오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10월의 수익률이 아니라 2028년의 기업가치를 보고, 이제는 그 가치를 산 가격까지 검증합니다.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인천대학교 생명공학전공  정현수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제10회 전국대학생 가치투자대회 최종보고서 - 정현수</dc:title>
  <dc:subject>PptxGenJS Presentation</dc:subject>
  <dc:creator>PptxGenJS</dc:creator>
  <cp:lastModifiedBy>PptxGenJS</cp:lastModifiedBy>
  <cp:revision>1</cp:revision>
  <dcterms:created xsi:type="dcterms:W3CDTF">2026-09-30T13:13:28Z</dcterms:created>
  <dcterms:modified xsi:type="dcterms:W3CDTF">2026-09-30T13:13:28Z</dcterms:modified>
</cp:coreProperties>
</file>